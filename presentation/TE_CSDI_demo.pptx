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412" r:id="rId2"/>
    <p:sldId id="2147309980" r:id="rId3"/>
    <p:sldId id="419" r:id="rId4"/>
    <p:sldId id="2147309984" r:id="rId5"/>
    <p:sldId id="2147482276" r:id="rId6"/>
    <p:sldId id="2147482277" r:id="rId7"/>
    <p:sldId id="2147470179" r:id="rId8"/>
    <p:sldId id="2147470190" r:id="rId9"/>
    <p:sldId id="2147470165" r:id="rId10"/>
    <p:sldId id="2147482278" r:id="rId11"/>
    <p:sldId id="2147482281" r:id="rId12"/>
    <p:sldId id="2147482279" r:id="rId13"/>
    <p:sldId id="2147482287" r:id="rId14"/>
    <p:sldId id="214748228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D6FD86-109C-5346-B265-3F8C0B6D7F05}" type="datetimeFigureOut">
              <a:rPr lang="en-US" smtClean="0"/>
              <a:t>5/6/26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AF149D-6CC1-E44E-9D1E-3F47E0E56C9D}" type="slidenum">
              <a:rPr lang="en-US" smtClean="0"/>
              <a:t>‹#›</a:t>
            </a:fld>
            <a:endParaRPr lang="en-US"/>
          </a:p>
        </p:txBody>
      </p:sp>
    </p:spTree>
    <p:extLst>
      <p:ext uri="{BB962C8B-B14F-4D97-AF65-F5344CB8AC3E}">
        <p14:creationId xmlns:p14="http://schemas.microsoft.com/office/powerpoint/2010/main" val="4002792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AD15A5-6128-B84F-818D-8AA5BDD9AF9D}" type="slidenum">
              <a:rPr kumimoji="0" lang="en-US" sz="1000" b="0" i="0" u="none" strike="noStrike" kern="1200" cap="none" spc="0" normalizeH="0" baseline="0" noProof="0" smtClean="0">
                <a:ln>
                  <a:noFill/>
                </a:ln>
                <a:solidFill>
                  <a:srgbClr val="3F3F3F"/>
                </a:solidFill>
                <a:effectLst/>
                <a:uLnTx/>
                <a:uFillTx/>
                <a:latin typeface="CVS Health Sans"/>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srgbClr val="3F3F3F"/>
              </a:solidFill>
              <a:effectLst/>
              <a:uLnTx/>
              <a:uFillTx/>
              <a:latin typeface="CVS Health Sans"/>
              <a:ea typeface="+mn-ea"/>
              <a:cs typeface="Arial" panose="020B0604020202020204" pitchFamily="34" charset="0"/>
            </a:endParaRPr>
          </a:p>
        </p:txBody>
      </p:sp>
    </p:spTree>
    <p:extLst>
      <p:ext uri="{BB962C8B-B14F-4D97-AF65-F5344CB8AC3E}">
        <p14:creationId xmlns:p14="http://schemas.microsoft.com/office/powerpoint/2010/main" val="1643953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Model architecture overview and modification rationale</a:t>
            </a:r>
          </a:p>
          <a:p>
            <a:endParaRPr lang="en-US">
              <a:latin typeface="Calibri"/>
              <a:ea typeface="Calibri"/>
              <a:cs typeface="Calibri"/>
            </a:endParaRPr>
          </a:p>
          <a:p>
            <a:r>
              <a:rPr lang="en-US">
                <a:latin typeface="Calibri"/>
                <a:ea typeface="Calibri"/>
                <a:cs typeface="Calibri"/>
              </a:rPr>
              <a:t>Data augmentation for claim</a:t>
            </a:r>
          </a:p>
          <a:p>
            <a:endParaRPr lang="en-US">
              <a:latin typeface="Calibri"/>
              <a:ea typeface="Calibri"/>
              <a:cs typeface="Calibri"/>
            </a:endParaRPr>
          </a:p>
          <a:p>
            <a:r>
              <a:rPr lang="en-US">
                <a:latin typeface="Calibri"/>
                <a:ea typeface="Calibri"/>
                <a:cs typeface="Calibri"/>
              </a:rPr>
              <a:t>Daniel A12.001</a:t>
            </a:r>
          </a:p>
          <a:p>
            <a:r>
              <a:rPr lang="en-US">
                <a:latin typeface="Calibri"/>
                <a:ea typeface="Calibri"/>
                <a:cs typeface="Calibri"/>
              </a:rPr>
              <a:t>Danel2 A12.0</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3D3BF45-5941-4009-A597-556AD5B57001}" type="slidenum">
              <a:rPr lang="en-US" smtClean="0"/>
              <a:t>3</a:t>
            </a:fld>
            <a:endParaRPr lang="en-US"/>
          </a:p>
        </p:txBody>
      </p:sp>
    </p:spTree>
    <p:extLst>
      <p:ext uri="{BB962C8B-B14F-4D97-AF65-F5344CB8AC3E}">
        <p14:creationId xmlns:p14="http://schemas.microsoft.com/office/powerpoint/2010/main" val="473451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D3BF45-5941-4009-A597-556AD5B57001}" type="slidenum">
              <a:rPr lang="en-US" smtClean="0"/>
              <a:t>4</a:t>
            </a:fld>
            <a:endParaRPr lang="en-US"/>
          </a:p>
        </p:txBody>
      </p:sp>
    </p:spTree>
    <p:extLst>
      <p:ext uri="{BB962C8B-B14F-4D97-AF65-F5344CB8AC3E}">
        <p14:creationId xmlns:p14="http://schemas.microsoft.com/office/powerpoint/2010/main" val="1739863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D3BF45-5941-4009-A597-556AD5B57001}" type="slidenum">
              <a:rPr lang="en-US" smtClean="0"/>
              <a:t>6</a:t>
            </a:fld>
            <a:endParaRPr lang="en-US"/>
          </a:p>
        </p:txBody>
      </p:sp>
    </p:spTree>
    <p:extLst>
      <p:ext uri="{BB962C8B-B14F-4D97-AF65-F5344CB8AC3E}">
        <p14:creationId xmlns:p14="http://schemas.microsoft.com/office/powerpoint/2010/main" val="719411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Results (secondary): We can give a global interpretation of the TEs by looking at traditional feature associations. This will be helpful for segmentation analyses and population explanations, even if they aren’t what we set out to do (individual explanations).</a:t>
            </a:r>
          </a:p>
        </p:txBody>
      </p:sp>
      <p:sp>
        <p:nvSpPr>
          <p:cNvPr id="4" name="Slide Number Placeholder 3"/>
          <p:cNvSpPr>
            <a:spLocks noGrp="1"/>
          </p:cNvSpPr>
          <p:nvPr>
            <p:ph type="sldNum" sz="quarter" idx="5"/>
          </p:nvPr>
        </p:nvSpPr>
        <p:spPr/>
        <p:txBody>
          <a:bodyPr/>
          <a:lstStyle/>
          <a:p>
            <a:fld id="{50AD15A5-6128-B84F-818D-8AA5BDD9AF9D}" type="slidenum">
              <a:rPr lang="en-US" smtClean="0"/>
              <a:pPr/>
              <a:t>7</a:t>
            </a:fld>
            <a:endParaRPr lang="en-US"/>
          </a:p>
        </p:txBody>
      </p:sp>
    </p:spTree>
    <p:extLst>
      <p:ext uri="{BB962C8B-B14F-4D97-AF65-F5344CB8AC3E}">
        <p14:creationId xmlns:p14="http://schemas.microsoft.com/office/powerpoint/2010/main" val="1870551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8D72B-F59D-2295-90E1-377FCEC27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8B576-25AC-E944-3330-1E6CCE677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B059D3-A084-ED05-02A2-4426A6BB39C9}"/>
              </a:ext>
            </a:extLst>
          </p:cNvPr>
          <p:cNvSpPr>
            <a:spLocks noGrp="1"/>
          </p:cNvSpPr>
          <p:nvPr>
            <p:ph type="body" idx="1"/>
          </p:nvPr>
        </p:nvSpPr>
        <p:spPr/>
        <p:txBody>
          <a:bodyPr/>
          <a:lstStyle/>
          <a:p>
            <a:r>
              <a:rPr lang="en-US"/>
              <a:t>NOTE: CM and DS products differ due to governance and legal requirements. We can use approximates and risk some hallucination. Clinical cannot (good enough for interpretation, not action).</a:t>
            </a:r>
            <a:br>
              <a:rPr lang="en-US"/>
            </a:br>
            <a:br>
              <a:rPr lang="en-US"/>
            </a:br>
            <a:r>
              <a:rPr lang="en-US"/>
              <a:t>Get original features into </a:t>
            </a:r>
            <a:r>
              <a:rPr lang="en-US" err="1"/>
              <a:t>gemini</a:t>
            </a:r>
            <a:r>
              <a:rPr lang="en-US"/>
              <a:t>, SHAP values didn’t make sense, we just used to individualize the most important non-TE features for a given member. </a:t>
            </a:r>
          </a:p>
        </p:txBody>
      </p:sp>
      <p:sp>
        <p:nvSpPr>
          <p:cNvPr id="4" name="Slide Number Placeholder 3">
            <a:extLst>
              <a:ext uri="{FF2B5EF4-FFF2-40B4-BE49-F238E27FC236}">
                <a16:creationId xmlns:a16="http://schemas.microsoft.com/office/drawing/2014/main" id="{35A66CA5-2FB3-C1CB-2A71-1F2ABC190C68}"/>
              </a:ext>
            </a:extLst>
          </p:cNvPr>
          <p:cNvSpPr>
            <a:spLocks noGrp="1"/>
          </p:cNvSpPr>
          <p:nvPr>
            <p:ph type="sldNum" sz="quarter" idx="5"/>
          </p:nvPr>
        </p:nvSpPr>
        <p:spPr/>
        <p:txBody>
          <a:bodyPr/>
          <a:lstStyle/>
          <a:p>
            <a:fld id="{50AD15A5-6128-B84F-818D-8AA5BDD9AF9D}" type="slidenum">
              <a:rPr lang="en-US" smtClean="0"/>
              <a:pPr/>
              <a:t>8</a:t>
            </a:fld>
            <a:endParaRPr lang="en-US"/>
          </a:p>
        </p:txBody>
      </p:sp>
    </p:spTree>
    <p:extLst>
      <p:ext uri="{BB962C8B-B14F-4D97-AF65-F5344CB8AC3E}">
        <p14:creationId xmlns:p14="http://schemas.microsoft.com/office/powerpoint/2010/main" val="3386783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F9FFB-6212-C3C0-F404-236179768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F45424-9F76-FC00-C1C6-0453A039A2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527502-8B18-70F5-FB7F-A069159A1351}"/>
              </a:ext>
            </a:extLst>
          </p:cNvPr>
          <p:cNvSpPr>
            <a:spLocks noGrp="1"/>
          </p:cNvSpPr>
          <p:nvPr>
            <p:ph type="body" idx="1"/>
          </p:nvPr>
        </p:nvSpPr>
        <p:spPr/>
        <p:txBody>
          <a:bodyPr/>
          <a:lstStyle/>
          <a:p>
            <a:r>
              <a:rPr lang="en-US">
                <a:solidFill>
                  <a:srgbClr val="3F3F3F"/>
                </a:solidFill>
              </a:rPr>
              <a:t>Picking up more knowledge at each layer (left).</a:t>
            </a:r>
          </a:p>
          <a:p>
            <a:r>
              <a:rPr lang="en-US">
                <a:solidFill>
                  <a:srgbClr val="3F3F3F"/>
                </a:solidFill>
              </a:rPr>
              <a:t>TE not capturing social well because there are not a lot of data that go into it. Size of the data we input for a concept set is important. </a:t>
            </a:r>
          </a:p>
          <a:p>
            <a:br>
              <a:rPr lang="en-US">
                <a:solidFill>
                  <a:srgbClr val="3F3F3F"/>
                </a:solidFill>
              </a:rPr>
            </a:br>
            <a:r>
              <a:rPr lang="en-US">
                <a:solidFill>
                  <a:srgbClr val="3F3F3F"/>
                </a:solidFill>
              </a:rPr>
              <a:t>(right) concept vectors – representation of each clinical concept. Similarity between them, the layer is picking up common knowledge shared across the concepts. High cosine similarity = higher variance, lower specific information captured in that layer</a:t>
            </a:r>
            <a:br>
              <a:rPr lang="en-US">
                <a:solidFill>
                  <a:srgbClr val="3F3F3F"/>
                </a:solidFill>
              </a:rPr>
            </a:br>
            <a:r>
              <a:rPr lang="en-US">
                <a:solidFill>
                  <a:srgbClr val="3F3F3F"/>
                </a:solidFill>
              </a:rPr>
              <a:t>First three layers pick up “common knowledge”, no differentiation. Each layer is picking up some of that differentiation. Layers function differently in how they encode and transfer the information. Need to be careful with understanding.</a:t>
            </a:r>
            <a:br>
              <a:rPr lang="en-US">
                <a:solidFill>
                  <a:srgbClr val="3F3F3F"/>
                </a:solidFill>
              </a:rPr>
            </a:br>
            <a:br>
              <a:rPr lang="en-US">
                <a:solidFill>
                  <a:srgbClr val="3F3F3F"/>
                </a:solidFill>
              </a:rPr>
            </a:br>
            <a:r>
              <a:rPr lang="en-US" err="1">
                <a:solidFill>
                  <a:srgbClr val="3F3F3F"/>
                </a:solidFill>
              </a:rPr>
              <a:t>Sepeartion</a:t>
            </a:r>
            <a:r>
              <a:rPr lang="en-US">
                <a:solidFill>
                  <a:srgbClr val="3F3F3F"/>
                </a:solidFill>
              </a:rPr>
              <a:t> shows where the model has learned something new about the various concepts and </a:t>
            </a:r>
            <a:r>
              <a:rPr lang="en-US" err="1">
                <a:solidFill>
                  <a:srgbClr val="3F3F3F"/>
                </a:solidFill>
              </a:rPr>
              <a:t>hwo</a:t>
            </a:r>
            <a:r>
              <a:rPr lang="en-US">
                <a:solidFill>
                  <a:srgbClr val="3F3F3F"/>
                </a:solidFill>
              </a:rPr>
              <a:t> they are different.</a:t>
            </a:r>
            <a:br>
              <a:rPr lang="en-US">
                <a:solidFill>
                  <a:srgbClr val="3F3F3F"/>
                </a:solidFill>
              </a:rPr>
            </a:br>
            <a:br>
              <a:rPr lang="en-US">
                <a:solidFill>
                  <a:srgbClr val="3F3F3F"/>
                </a:solidFill>
              </a:rPr>
            </a:br>
            <a:endParaRPr lang="en-US">
              <a:solidFill>
                <a:srgbClr val="3F3F3F"/>
              </a:solidFill>
            </a:endParaRPr>
          </a:p>
        </p:txBody>
      </p:sp>
      <p:sp>
        <p:nvSpPr>
          <p:cNvPr id="4" name="Slide Number Placeholder 3">
            <a:extLst>
              <a:ext uri="{FF2B5EF4-FFF2-40B4-BE49-F238E27FC236}">
                <a16:creationId xmlns:a16="http://schemas.microsoft.com/office/drawing/2014/main" id="{2350591A-51B8-B3E9-2E05-8CABF0A4314C}"/>
              </a:ext>
            </a:extLst>
          </p:cNvPr>
          <p:cNvSpPr>
            <a:spLocks noGrp="1"/>
          </p:cNvSpPr>
          <p:nvPr>
            <p:ph type="sldNum" sz="quarter" idx="5"/>
          </p:nvPr>
        </p:nvSpPr>
        <p:spPr/>
        <p:txBody>
          <a:bodyPr/>
          <a:lstStyle/>
          <a:p>
            <a:fld id="{50AD15A5-6128-B84F-818D-8AA5BDD9AF9D}" type="slidenum">
              <a:rPr lang="en-US" smtClean="0"/>
              <a:pPr/>
              <a:t>9</a:t>
            </a:fld>
            <a:endParaRPr lang="en-US"/>
          </a:p>
        </p:txBody>
      </p:sp>
    </p:spTree>
    <p:extLst>
      <p:ext uri="{BB962C8B-B14F-4D97-AF65-F5344CB8AC3E}">
        <p14:creationId xmlns:p14="http://schemas.microsoft.com/office/powerpoint/2010/main" val="3725762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0006C-0C36-A7FB-E12C-A7660B4AE9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BBCFE8-0CF9-B9D9-1445-C179A24BB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4A46D34-8EA5-B166-81D8-98E126B8D955}"/>
              </a:ext>
            </a:extLst>
          </p:cNvPr>
          <p:cNvSpPr>
            <a:spLocks noGrp="1"/>
          </p:cNvSpPr>
          <p:nvPr>
            <p:ph type="dt" sz="half" idx="10"/>
          </p:nvPr>
        </p:nvSpPr>
        <p:spPr/>
        <p:txBody>
          <a:bodyPr/>
          <a:lstStyle/>
          <a:p>
            <a:fld id="{CBF2DAFD-633C-494E-A490-66EED5C42CF5}" type="datetimeFigureOut">
              <a:rPr lang="en-US" smtClean="0"/>
              <a:t>5/6/26</a:t>
            </a:fld>
            <a:endParaRPr lang="en-US"/>
          </a:p>
        </p:txBody>
      </p:sp>
      <p:sp>
        <p:nvSpPr>
          <p:cNvPr id="5" name="Footer Placeholder 4">
            <a:extLst>
              <a:ext uri="{FF2B5EF4-FFF2-40B4-BE49-F238E27FC236}">
                <a16:creationId xmlns:a16="http://schemas.microsoft.com/office/drawing/2014/main" id="{B91A4D46-C03C-A317-8E0C-8F36752FD8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568747-01AF-09B2-DF54-B9707D2D1EDD}"/>
              </a:ext>
            </a:extLst>
          </p:cNvPr>
          <p:cNvSpPr>
            <a:spLocks noGrp="1"/>
          </p:cNvSpPr>
          <p:nvPr>
            <p:ph type="sldNum" sz="quarter" idx="12"/>
          </p:nvPr>
        </p:nvSpPr>
        <p:spPr/>
        <p:txBody>
          <a:bodyPr/>
          <a:lstStyle/>
          <a:p>
            <a:fld id="{922A09C0-9B74-2240-B0A7-92E079E7D32F}" type="slidenum">
              <a:rPr lang="en-US" smtClean="0"/>
              <a:t>‹#›</a:t>
            </a:fld>
            <a:endParaRPr lang="en-US"/>
          </a:p>
        </p:txBody>
      </p:sp>
    </p:spTree>
    <p:extLst>
      <p:ext uri="{BB962C8B-B14F-4D97-AF65-F5344CB8AC3E}">
        <p14:creationId xmlns:p14="http://schemas.microsoft.com/office/powerpoint/2010/main" val="3122339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66DA1-B79A-A8C2-59EA-174C11B487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E47388-D4EA-F722-FC7F-ECA4491FE5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3AC311-03EA-759F-8C3E-73568262D114}"/>
              </a:ext>
            </a:extLst>
          </p:cNvPr>
          <p:cNvSpPr>
            <a:spLocks noGrp="1"/>
          </p:cNvSpPr>
          <p:nvPr>
            <p:ph type="dt" sz="half" idx="10"/>
          </p:nvPr>
        </p:nvSpPr>
        <p:spPr/>
        <p:txBody>
          <a:bodyPr/>
          <a:lstStyle/>
          <a:p>
            <a:fld id="{CBF2DAFD-633C-494E-A490-66EED5C42CF5}" type="datetimeFigureOut">
              <a:rPr lang="en-US" smtClean="0"/>
              <a:t>5/6/26</a:t>
            </a:fld>
            <a:endParaRPr lang="en-US"/>
          </a:p>
        </p:txBody>
      </p:sp>
      <p:sp>
        <p:nvSpPr>
          <p:cNvPr id="5" name="Footer Placeholder 4">
            <a:extLst>
              <a:ext uri="{FF2B5EF4-FFF2-40B4-BE49-F238E27FC236}">
                <a16:creationId xmlns:a16="http://schemas.microsoft.com/office/drawing/2014/main" id="{38318D62-2671-A4B0-16F4-9C14DED71E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47B79-8478-B5F3-374D-41724AF2C6C1}"/>
              </a:ext>
            </a:extLst>
          </p:cNvPr>
          <p:cNvSpPr>
            <a:spLocks noGrp="1"/>
          </p:cNvSpPr>
          <p:nvPr>
            <p:ph type="sldNum" sz="quarter" idx="12"/>
          </p:nvPr>
        </p:nvSpPr>
        <p:spPr/>
        <p:txBody>
          <a:bodyPr/>
          <a:lstStyle/>
          <a:p>
            <a:fld id="{922A09C0-9B74-2240-B0A7-92E079E7D32F}" type="slidenum">
              <a:rPr lang="en-US" smtClean="0"/>
              <a:t>‹#›</a:t>
            </a:fld>
            <a:endParaRPr lang="en-US"/>
          </a:p>
        </p:txBody>
      </p:sp>
    </p:spTree>
    <p:extLst>
      <p:ext uri="{BB962C8B-B14F-4D97-AF65-F5344CB8AC3E}">
        <p14:creationId xmlns:p14="http://schemas.microsoft.com/office/powerpoint/2010/main" val="3659127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BC40E-E0DB-C3FD-2F0C-717E553BF9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F012BC-B36C-EA5E-0C19-2E3D11932C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95C03E-FFD5-976A-6978-BB47EBA40D23}"/>
              </a:ext>
            </a:extLst>
          </p:cNvPr>
          <p:cNvSpPr>
            <a:spLocks noGrp="1"/>
          </p:cNvSpPr>
          <p:nvPr>
            <p:ph type="dt" sz="half" idx="10"/>
          </p:nvPr>
        </p:nvSpPr>
        <p:spPr/>
        <p:txBody>
          <a:bodyPr/>
          <a:lstStyle/>
          <a:p>
            <a:fld id="{CBF2DAFD-633C-494E-A490-66EED5C42CF5}" type="datetimeFigureOut">
              <a:rPr lang="en-US" smtClean="0"/>
              <a:t>5/6/26</a:t>
            </a:fld>
            <a:endParaRPr lang="en-US"/>
          </a:p>
        </p:txBody>
      </p:sp>
      <p:sp>
        <p:nvSpPr>
          <p:cNvPr id="5" name="Footer Placeholder 4">
            <a:extLst>
              <a:ext uri="{FF2B5EF4-FFF2-40B4-BE49-F238E27FC236}">
                <a16:creationId xmlns:a16="http://schemas.microsoft.com/office/drawing/2014/main" id="{37CF37A0-C5F8-6D9D-38AD-5AAFD7E20C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18369F-2E09-FF81-5AD8-0575C7E9C668}"/>
              </a:ext>
            </a:extLst>
          </p:cNvPr>
          <p:cNvSpPr>
            <a:spLocks noGrp="1"/>
          </p:cNvSpPr>
          <p:nvPr>
            <p:ph type="sldNum" sz="quarter" idx="12"/>
          </p:nvPr>
        </p:nvSpPr>
        <p:spPr/>
        <p:txBody>
          <a:bodyPr/>
          <a:lstStyle/>
          <a:p>
            <a:fld id="{922A09C0-9B74-2240-B0A7-92E079E7D32F}" type="slidenum">
              <a:rPr lang="en-US" smtClean="0"/>
              <a:t>‹#›</a:t>
            </a:fld>
            <a:endParaRPr lang="en-US"/>
          </a:p>
        </p:txBody>
      </p:sp>
    </p:spTree>
    <p:extLst>
      <p:ext uri="{BB962C8B-B14F-4D97-AF65-F5344CB8AC3E}">
        <p14:creationId xmlns:p14="http://schemas.microsoft.com/office/powerpoint/2010/main" val="1545195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E37A5-BDEF-8795-E0F3-F04782FDC1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8EF898-CD55-C727-ECEA-9A3E085C4E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847809-107B-6326-303B-04EBDD5913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24A764-0C31-F987-0855-A3F50C1192B1}"/>
              </a:ext>
            </a:extLst>
          </p:cNvPr>
          <p:cNvSpPr>
            <a:spLocks noGrp="1"/>
          </p:cNvSpPr>
          <p:nvPr>
            <p:ph type="dt" sz="half" idx="10"/>
          </p:nvPr>
        </p:nvSpPr>
        <p:spPr/>
        <p:txBody>
          <a:bodyPr/>
          <a:lstStyle/>
          <a:p>
            <a:fld id="{CBF2DAFD-633C-494E-A490-66EED5C42CF5}" type="datetimeFigureOut">
              <a:rPr lang="en-US" smtClean="0"/>
              <a:t>5/6/26</a:t>
            </a:fld>
            <a:endParaRPr lang="en-US"/>
          </a:p>
        </p:txBody>
      </p:sp>
      <p:sp>
        <p:nvSpPr>
          <p:cNvPr id="6" name="Footer Placeholder 5">
            <a:extLst>
              <a:ext uri="{FF2B5EF4-FFF2-40B4-BE49-F238E27FC236}">
                <a16:creationId xmlns:a16="http://schemas.microsoft.com/office/drawing/2014/main" id="{F4708AE0-8E8F-5021-7B0C-E58D3883AD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92FCDC-50C1-1CDA-86F9-11179131AB9F}"/>
              </a:ext>
            </a:extLst>
          </p:cNvPr>
          <p:cNvSpPr>
            <a:spLocks noGrp="1"/>
          </p:cNvSpPr>
          <p:nvPr>
            <p:ph type="sldNum" sz="quarter" idx="12"/>
          </p:nvPr>
        </p:nvSpPr>
        <p:spPr/>
        <p:txBody>
          <a:bodyPr/>
          <a:lstStyle/>
          <a:p>
            <a:fld id="{922A09C0-9B74-2240-B0A7-92E079E7D32F}" type="slidenum">
              <a:rPr lang="en-US" smtClean="0"/>
              <a:t>‹#›</a:t>
            </a:fld>
            <a:endParaRPr lang="en-US"/>
          </a:p>
        </p:txBody>
      </p:sp>
    </p:spTree>
    <p:extLst>
      <p:ext uri="{BB962C8B-B14F-4D97-AF65-F5344CB8AC3E}">
        <p14:creationId xmlns:p14="http://schemas.microsoft.com/office/powerpoint/2010/main" val="893193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B5F6B-21F1-B5D9-9091-81E002F8E5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5CA26D-74BC-5A42-B3BA-8DA7CCB321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797998-887F-10C6-0E97-A7164ED70B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67ABA4-19E7-91B3-2781-2AD9B033E7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0AC948-38BA-470E-B109-394C63ACC4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EB0C35-66F3-147C-0B95-4CBCDA1A1872}"/>
              </a:ext>
            </a:extLst>
          </p:cNvPr>
          <p:cNvSpPr>
            <a:spLocks noGrp="1"/>
          </p:cNvSpPr>
          <p:nvPr>
            <p:ph type="dt" sz="half" idx="10"/>
          </p:nvPr>
        </p:nvSpPr>
        <p:spPr/>
        <p:txBody>
          <a:bodyPr/>
          <a:lstStyle/>
          <a:p>
            <a:fld id="{CBF2DAFD-633C-494E-A490-66EED5C42CF5}" type="datetimeFigureOut">
              <a:rPr lang="en-US" smtClean="0"/>
              <a:t>5/6/26</a:t>
            </a:fld>
            <a:endParaRPr lang="en-US"/>
          </a:p>
        </p:txBody>
      </p:sp>
      <p:sp>
        <p:nvSpPr>
          <p:cNvPr id="8" name="Footer Placeholder 7">
            <a:extLst>
              <a:ext uri="{FF2B5EF4-FFF2-40B4-BE49-F238E27FC236}">
                <a16:creationId xmlns:a16="http://schemas.microsoft.com/office/drawing/2014/main" id="{15D1ACCB-BDAE-6231-9D81-FFD013F879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907C2F-F1CD-4C47-27C0-A4247ACB87AE}"/>
              </a:ext>
            </a:extLst>
          </p:cNvPr>
          <p:cNvSpPr>
            <a:spLocks noGrp="1"/>
          </p:cNvSpPr>
          <p:nvPr>
            <p:ph type="sldNum" sz="quarter" idx="12"/>
          </p:nvPr>
        </p:nvSpPr>
        <p:spPr/>
        <p:txBody>
          <a:bodyPr/>
          <a:lstStyle/>
          <a:p>
            <a:fld id="{922A09C0-9B74-2240-B0A7-92E079E7D32F}" type="slidenum">
              <a:rPr lang="en-US" smtClean="0"/>
              <a:t>‹#›</a:t>
            </a:fld>
            <a:endParaRPr lang="en-US"/>
          </a:p>
        </p:txBody>
      </p:sp>
    </p:spTree>
    <p:extLst>
      <p:ext uri="{BB962C8B-B14F-4D97-AF65-F5344CB8AC3E}">
        <p14:creationId xmlns:p14="http://schemas.microsoft.com/office/powerpoint/2010/main" val="1152985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4B156-2E48-8702-A4EC-0DAF7D1851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3A1ABE-FFCB-D9A2-F99B-9C3D04F64841}"/>
              </a:ext>
            </a:extLst>
          </p:cNvPr>
          <p:cNvSpPr>
            <a:spLocks noGrp="1"/>
          </p:cNvSpPr>
          <p:nvPr>
            <p:ph type="dt" sz="half" idx="10"/>
          </p:nvPr>
        </p:nvSpPr>
        <p:spPr/>
        <p:txBody>
          <a:bodyPr/>
          <a:lstStyle/>
          <a:p>
            <a:fld id="{CBF2DAFD-633C-494E-A490-66EED5C42CF5}" type="datetimeFigureOut">
              <a:rPr lang="en-US" smtClean="0"/>
              <a:t>5/6/26</a:t>
            </a:fld>
            <a:endParaRPr lang="en-US"/>
          </a:p>
        </p:txBody>
      </p:sp>
      <p:sp>
        <p:nvSpPr>
          <p:cNvPr id="4" name="Footer Placeholder 3">
            <a:extLst>
              <a:ext uri="{FF2B5EF4-FFF2-40B4-BE49-F238E27FC236}">
                <a16:creationId xmlns:a16="http://schemas.microsoft.com/office/drawing/2014/main" id="{57A60BB9-5EBB-A253-1CC7-BA947442AB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98CE2B-2354-A9CA-F4FD-A2D1D9A2EC72}"/>
              </a:ext>
            </a:extLst>
          </p:cNvPr>
          <p:cNvSpPr>
            <a:spLocks noGrp="1"/>
          </p:cNvSpPr>
          <p:nvPr>
            <p:ph type="sldNum" sz="quarter" idx="12"/>
          </p:nvPr>
        </p:nvSpPr>
        <p:spPr/>
        <p:txBody>
          <a:bodyPr/>
          <a:lstStyle/>
          <a:p>
            <a:fld id="{922A09C0-9B74-2240-B0A7-92E079E7D32F}" type="slidenum">
              <a:rPr lang="en-US" smtClean="0"/>
              <a:t>‹#›</a:t>
            </a:fld>
            <a:endParaRPr lang="en-US"/>
          </a:p>
        </p:txBody>
      </p:sp>
    </p:spTree>
    <p:extLst>
      <p:ext uri="{BB962C8B-B14F-4D97-AF65-F5344CB8AC3E}">
        <p14:creationId xmlns:p14="http://schemas.microsoft.com/office/powerpoint/2010/main" val="1487679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EFBB57-DA05-FD7F-E104-779B153CBE8E}"/>
              </a:ext>
            </a:extLst>
          </p:cNvPr>
          <p:cNvSpPr>
            <a:spLocks noGrp="1"/>
          </p:cNvSpPr>
          <p:nvPr>
            <p:ph type="dt" sz="half" idx="10"/>
          </p:nvPr>
        </p:nvSpPr>
        <p:spPr/>
        <p:txBody>
          <a:bodyPr/>
          <a:lstStyle/>
          <a:p>
            <a:fld id="{CBF2DAFD-633C-494E-A490-66EED5C42CF5}" type="datetimeFigureOut">
              <a:rPr lang="en-US" smtClean="0"/>
              <a:t>5/6/26</a:t>
            </a:fld>
            <a:endParaRPr lang="en-US"/>
          </a:p>
        </p:txBody>
      </p:sp>
      <p:sp>
        <p:nvSpPr>
          <p:cNvPr id="3" name="Footer Placeholder 2">
            <a:extLst>
              <a:ext uri="{FF2B5EF4-FFF2-40B4-BE49-F238E27FC236}">
                <a16:creationId xmlns:a16="http://schemas.microsoft.com/office/drawing/2014/main" id="{E60A3043-BDA1-99BC-6F1C-83038575C5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7FF817-7B12-B47D-2613-04938CA3DD3F}"/>
              </a:ext>
            </a:extLst>
          </p:cNvPr>
          <p:cNvSpPr>
            <a:spLocks noGrp="1"/>
          </p:cNvSpPr>
          <p:nvPr>
            <p:ph type="sldNum" sz="quarter" idx="12"/>
          </p:nvPr>
        </p:nvSpPr>
        <p:spPr/>
        <p:txBody>
          <a:bodyPr/>
          <a:lstStyle/>
          <a:p>
            <a:fld id="{922A09C0-9B74-2240-B0A7-92E079E7D32F}" type="slidenum">
              <a:rPr lang="en-US" smtClean="0"/>
              <a:t>‹#›</a:t>
            </a:fld>
            <a:endParaRPr lang="en-US"/>
          </a:p>
        </p:txBody>
      </p:sp>
    </p:spTree>
    <p:extLst>
      <p:ext uri="{BB962C8B-B14F-4D97-AF65-F5344CB8AC3E}">
        <p14:creationId xmlns:p14="http://schemas.microsoft.com/office/powerpoint/2010/main" val="712359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7D8CD-E700-0ED9-5348-F4454843D9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EFD0DC-F114-DBBB-E3B6-A06475D193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59499E-3F36-3CE5-3EB4-4C037A610A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A8E549-9D71-49DF-D6F5-5B7D60A225AA}"/>
              </a:ext>
            </a:extLst>
          </p:cNvPr>
          <p:cNvSpPr>
            <a:spLocks noGrp="1"/>
          </p:cNvSpPr>
          <p:nvPr>
            <p:ph type="dt" sz="half" idx="10"/>
          </p:nvPr>
        </p:nvSpPr>
        <p:spPr/>
        <p:txBody>
          <a:bodyPr/>
          <a:lstStyle/>
          <a:p>
            <a:fld id="{CBF2DAFD-633C-494E-A490-66EED5C42CF5}" type="datetimeFigureOut">
              <a:rPr lang="en-US" smtClean="0"/>
              <a:t>5/6/26</a:t>
            </a:fld>
            <a:endParaRPr lang="en-US"/>
          </a:p>
        </p:txBody>
      </p:sp>
      <p:sp>
        <p:nvSpPr>
          <p:cNvPr id="6" name="Footer Placeholder 5">
            <a:extLst>
              <a:ext uri="{FF2B5EF4-FFF2-40B4-BE49-F238E27FC236}">
                <a16:creationId xmlns:a16="http://schemas.microsoft.com/office/drawing/2014/main" id="{B8408195-8BD2-347D-37C9-244DEC0C00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93C841-B92D-2B7F-91A0-8D03EB2B2493}"/>
              </a:ext>
            </a:extLst>
          </p:cNvPr>
          <p:cNvSpPr>
            <a:spLocks noGrp="1"/>
          </p:cNvSpPr>
          <p:nvPr>
            <p:ph type="sldNum" sz="quarter" idx="12"/>
          </p:nvPr>
        </p:nvSpPr>
        <p:spPr/>
        <p:txBody>
          <a:bodyPr/>
          <a:lstStyle/>
          <a:p>
            <a:fld id="{922A09C0-9B74-2240-B0A7-92E079E7D32F}" type="slidenum">
              <a:rPr lang="en-US" smtClean="0"/>
              <a:t>‹#›</a:t>
            </a:fld>
            <a:endParaRPr lang="en-US"/>
          </a:p>
        </p:txBody>
      </p:sp>
    </p:spTree>
    <p:extLst>
      <p:ext uri="{BB962C8B-B14F-4D97-AF65-F5344CB8AC3E}">
        <p14:creationId xmlns:p14="http://schemas.microsoft.com/office/powerpoint/2010/main" val="4090886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DEDB5-19A4-F944-A5F8-35003EEE42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68BA33-024F-127A-5576-DF2DC3A322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D16042-7F62-9271-C9DD-394994E064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76A177-ACFE-03E8-5778-E964B6EFD543}"/>
              </a:ext>
            </a:extLst>
          </p:cNvPr>
          <p:cNvSpPr>
            <a:spLocks noGrp="1"/>
          </p:cNvSpPr>
          <p:nvPr>
            <p:ph type="dt" sz="half" idx="10"/>
          </p:nvPr>
        </p:nvSpPr>
        <p:spPr/>
        <p:txBody>
          <a:bodyPr/>
          <a:lstStyle/>
          <a:p>
            <a:fld id="{CBF2DAFD-633C-494E-A490-66EED5C42CF5}" type="datetimeFigureOut">
              <a:rPr lang="en-US" smtClean="0"/>
              <a:t>5/6/26</a:t>
            </a:fld>
            <a:endParaRPr lang="en-US"/>
          </a:p>
        </p:txBody>
      </p:sp>
      <p:sp>
        <p:nvSpPr>
          <p:cNvPr id="6" name="Footer Placeholder 5">
            <a:extLst>
              <a:ext uri="{FF2B5EF4-FFF2-40B4-BE49-F238E27FC236}">
                <a16:creationId xmlns:a16="http://schemas.microsoft.com/office/drawing/2014/main" id="{24DB19B3-2E5A-08A1-BAEE-91A50FFA3A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C1383E-B045-D1B2-C8DC-950F86AA9B6A}"/>
              </a:ext>
            </a:extLst>
          </p:cNvPr>
          <p:cNvSpPr>
            <a:spLocks noGrp="1"/>
          </p:cNvSpPr>
          <p:nvPr>
            <p:ph type="sldNum" sz="quarter" idx="12"/>
          </p:nvPr>
        </p:nvSpPr>
        <p:spPr/>
        <p:txBody>
          <a:bodyPr/>
          <a:lstStyle/>
          <a:p>
            <a:fld id="{922A09C0-9B74-2240-B0A7-92E079E7D32F}" type="slidenum">
              <a:rPr lang="en-US" smtClean="0"/>
              <a:t>‹#›</a:t>
            </a:fld>
            <a:endParaRPr lang="en-US"/>
          </a:p>
        </p:txBody>
      </p:sp>
    </p:spTree>
    <p:extLst>
      <p:ext uri="{BB962C8B-B14F-4D97-AF65-F5344CB8AC3E}">
        <p14:creationId xmlns:p14="http://schemas.microsoft.com/office/powerpoint/2010/main" val="5712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31342-597A-1880-764C-13BBA96C9C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0435EE-4A43-42AC-4008-0F773E0829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B29A1C-DCAB-9F42-4880-40054055B2BD}"/>
              </a:ext>
            </a:extLst>
          </p:cNvPr>
          <p:cNvSpPr>
            <a:spLocks noGrp="1"/>
          </p:cNvSpPr>
          <p:nvPr>
            <p:ph type="dt" sz="half" idx="10"/>
          </p:nvPr>
        </p:nvSpPr>
        <p:spPr/>
        <p:txBody>
          <a:bodyPr/>
          <a:lstStyle/>
          <a:p>
            <a:fld id="{CBF2DAFD-633C-494E-A490-66EED5C42CF5}" type="datetimeFigureOut">
              <a:rPr lang="en-US" smtClean="0"/>
              <a:t>5/6/26</a:t>
            </a:fld>
            <a:endParaRPr lang="en-US"/>
          </a:p>
        </p:txBody>
      </p:sp>
      <p:sp>
        <p:nvSpPr>
          <p:cNvPr id="5" name="Footer Placeholder 4">
            <a:extLst>
              <a:ext uri="{FF2B5EF4-FFF2-40B4-BE49-F238E27FC236}">
                <a16:creationId xmlns:a16="http://schemas.microsoft.com/office/drawing/2014/main" id="{D8F6DE1A-400D-2691-96B6-7CA10DB256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8D6803-963F-18F2-E28C-5C760CACEA98}"/>
              </a:ext>
            </a:extLst>
          </p:cNvPr>
          <p:cNvSpPr>
            <a:spLocks noGrp="1"/>
          </p:cNvSpPr>
          <p:nvPr>
            <p:ph type="sldNum" sz="quarter" idx="12"/>
          </p:nvPr>
        </p:nvSpPr>
        <p:spPr/>
        <p:txBody>
          <a:bodyPr/>
          <a:lstStyle/>
          <a:p>
            <a:fld id="{922A09C0-9B74-2240-B0A7-92E079E7D32F}" type="slidenum">
              <a:rPr lang="en-US" smtClean="0"/>
              <a:t>‹#›</a:t>
            </a:fld>
            <a:endParaRPr lang="en-US"/>
          </a:p>
        </p:txBody>
      </p:sp>
    </p:spTree>
    <p:extLst>
      <p:ext uri="{BB962C8B-B14F-4D97-AF65-F5344CB8AC3E}">
        <p14:creationId xmlns:p14="http://schemas.microsoft.com/office/powerpoint/2010/main" val="78702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8CE62B-ECD8-3B93-FCDF-9B0196AFE55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997717-978D-3CCF-2A71-D69927538F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666ECA-964D-3100-D69C-938B5C88F284}"/>
              </a:ext>
            </a:extLst>
          </p:cNvPr>
          <p:cNvSpPr>
            <a:spLocks noGrp="1"/>
          </p:cNvSpPr>
          <p:nvPr>
            <p:ph type="dt" sz="half" idx="10"/>
          </p:nvPr>
        </p:nvSpPr>
        <p:spPr/>
        <p:txBody>
          <a:bodyPr/>
          <a:lstStyle/>
          <a:p>
            <a:fld id="{CBF2DAFD-633C-494E-A490-66EED5C42CF5}" type="datetimeFigureOut">
              <a:rPr lang="en-US" smtClean="0"/>
              <a:t>5/6/26</a:t>
            </a:fld>
            <a:endParaRPr lang="en-US"/>
          </a:p>
        </p:txBody>
      </p:sp>
      <p:sp>
        <p:nvSpPr>
          <p:cNvPr id="5" name="Footer Placeholder 4">
            <a:extLst>
              <a:ext uri="{FF2B5EF4-FFF2-40B4-BE49-F238E27FC236}">
                <a16:creationId xmlns:a16="http://schemas.microsoft.com/office/drawing/2014/main" id="{B162795B-FB4B-1ED4-7211-718BB9A117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5CA7F0-36B1-ED04-F439-B92046DBD37C}"/>
              </a:ext>
            </a:extLst>
          </p:cNvPr>
          <p:cNvSpPr>
            <a:spLocks noGrp="1"/>
          </p:cNvSpPr>
          <p:nvPr>
            <p:ph type="sldNum" sz="quarter" idx="12"/>
          </p:nvPr>
        </p:nvSpPr>
        <p:spPr/>
        <p:txBody>
          <a:bodyPr/>
          <a:lstStyle/>
          <a:p>
            <a:fld id="{922A09C0-9B74-2240-B0A7-92E079E7D32F}" type="slidenum">
              <a:rPr lang="en-US" smtClean="0"/>
              <a:t>‹#›</a:t>
            </a:fld>
            <a:endParaRPr lang="en-US"/>
          </a:p>
        </p:txBody>
      </p:sp>
    </p:spTree>
    <p:extLst>
      <p:ext uri="{BB962C8B-B14F-4D97-AF65-F5344CB8AC3E}">
        <p14:creationId xmlns:p14="http://schemas.microsoft.com/office/powerpoint/2010/main" val="34790340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sp>
        <p:nvSpPr>
          <p:cNvPr id="22" name="Text Placeholder 4"/>
          <p:cNvSpPr>
            <a:spLocks noGrp="1"/>
          </p:cNvSpPr>
          <p:nvPr>
            <p:ph type="body" sz="quarter" idx="16" hasCustomPrompt="1"/>
          </p:nvPr>
        </p:nvSpPr>
        <p:spPr>
          <a:xfrm>
            <a:off x="557930" y="4379002"/>
            <a:ext cx="3582950" cy="1262324"/>
          </a:xfrm>
        </p:spPr>
        <p:txBody>
          <a:bodyPr/>
          <a:lstStyle>
            <a:lvl1pPr>
              <a:defRPr sz="1500" b="1">
                <a:solidFill>
                  <a:schemeClr val="tx2"/>
                </a:solidFill>
                <a:latin typeface="+mn-lt"/>
              </a:defRPr>
            </a:lvl1pPr>
            <a:lvl2pPr marL="0" indent="0">
              <a:spcBef>
                <a:spcPts val="0"/>
              </a:spcBef>
              <a:spcAft>
                <a:spcPts val="2400"/>
              </a:spcAft>
              <a:buFontTx/>
              <a:buNone/>
              <a:defRPr sz="1300">
                <a:solidFill>
                  <a:schemeClr val="tx2"/>
                </a:solidFill>
                <a:latin typeface="+mn-lt"/>
              </a:defRPr>
            </a:lvl2pPr>
            <a:lvl3pPr marL="0" indent="0">
              <a:buFontTx/>
              <a:buNone/>
              <a:defRPr sz="1200">
                <a:solidFill>
                  <a:schemeClr val="tx2"/>
                </a:solidFill>
                <a:latin typeface="+mn-lt"/>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pic>
        <p:nvPicPr>
          <p:cNvPr id="12" name="Graphic 11" descr="CVS Health logo.">
            <a:extLst>
              <a:ext uri="{FF2B5EF4-FFF2-40B4-BE49-F238E27FC236}">
                <a16:creationId xmlns:a16="http://schemas.microsoft.com/office/drawing/2014/main" id="{EB139D66-8476-4A6C-8269-A32651B9DCA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7929" y="430702"/>
            <a:ext cx="2872536" cy="350455"/>
          </a:xfrm>
          <a:prstGeom prst="rect">
            <a:avLst/>
          </a:prstGeom>
        </p:spPr>
      </p:pic>
      <p:pic>
        <p:nvPicPr>
          <p:cNvPr id="21" name="Picture 20" descr="Red outline heart."/>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175169" y="1016179"/>
            <a:ext cx="5222470" cy="4340047"/>
          </a:xfrm>
          <a:prstGeom prst="rect">
            <a:avLst/>
          </a:prstGeom>
        </p:spPr>
      </p:pic>
    </p:spTree>
    <p:extLst>
      <p:ext uri="{BB962C8B-B14F-4D97-AF65-F5344CB8AC3E}">
        <p14:creationId xmlns:p14="http://schemas.microsoft.com/office/powerpoint/2010/main" val="3361137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Divider dark">
    <p:spTree>
      <p:nvGrpSpPr>
        <p:cNvPr id="1" name=""/>
        <p:cNvGrpSpPr/>
        <p:nvPr/>
      </p:nvGrpSpPr>
      <p:grpSpPr>
        <a:xfrm>
          <a:off x="0" y="0"/>
          <a:ext cx="0" cy="0"/>
          <a:chOff x="0" y="0"/>
          <a:chExt cx="0" cy="0"/>
        </a:xfrm>
      </p:grpSpPr>
      <p:pic>
        <p:nvPicPr>
          <p:cNvPr id="3" name="Picture 2" descr="Dark heart pattern background.">
            <a:extLst>
              <a:ext uri="{FF2B5EF4-FFF2-40B4-BE49-F238E27FC236}">
                <a16:creationId xmlns:a16="http://schemas.microsoft.com/office/drawing/2014/main" id="{A370D62A-AB1A-457C-AF9D-8363B2583D12}"/>
              </a:ext>
            </a:extLst>
          </p:cNvPr>
          <p:cNvPicPr>
            <a:picLocks noChangeAspect="1"/>
          </p:cNvPicPr>
          <p:nvPr userDrawn="1"/>
        </p:nvPicPr>
        <p:blipFill>
          <a:blip r:embed="rId2"/>
          <a:stretch>
            <a:fillRect/>
          </a:stretch>
        </p:blipFill>
        <p:spPr>
          <a:xfrm>
            <a:off x="-15473" y="-9144"/>
            <a:ext cx="12222945" cy="6876288"/>
          </a:xfrm>
          <a:prstGeom prst="rect">
            <a:avLst/>
          </a:prstGeom>
        </p:spPr>
      </p:pic>
      <p:sp>
        <p:nvSpPr>
          <p:cNvPr id="4" name="Title 1">
            <a:extLst>
              <a:ext uri="{FF2B5EF4-FFF2-40B4-BE49-F238E27FC236}">
                <a16:creationId xmlns:a16="http://schemas.microsoft.com/office/drawing/2014/main" id="{ABD1AEB8-3322-4E67-A702-83F309202013}"/>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3606047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three-column layout</a:t>
            </a:r>
          </a:p>
        </p:txBody>
      </p:sp>
      <p:sp>
        <p:nvSpPr>
          <p:cNvPr id="3" name="Content Placeholder 2"/>
          <p:cNvSpPr>
            <a:spLocks noGrp="1"/>
          </p:cNvSpPr>
          <p:nvPr>
            <p:ph sz="half" idx="1" hasCustomPrompt="1"/>
          </p:nvPr>
        </p:nvSpPr>
        <p:spPr bwMode="gray">
          <a:xfrm>
            <a:off x="557930"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6" name="Content Placeholder 2"/>
          <p:cNvSpPr>
            <a:spLocks noGrp="1"/>
          </p:cNvSpPr>
          <p:nvPr>
            <p:ph sz="half" idx="10" hasCustomPrompt="1"/>
          </p:nvPr>
        </p:nvSpPr>
        <p:spPr bwMode="gray">
          <a:xfrm>
            <a:off x="4371971"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1" hasCustomPrompt="1"/>
          </p:nvPr>
        </p:nvSpPr>
        <p:spPr bwMode="gray">
          <a:xfrm>
            <a:off x="8186012"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10885474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two-column layout</a:t>
            </a:r>
          </a:p>
        </p:txBody>
      </p:sp>
      <p:sp>
        <p:nvSpPr>
          <p:cNvPr id="3" name="Content Placeholder 2"/>
          <p:cNvSpPr>
            <a:spLocks noGrp="1"/>
          </p:cNvSpPr>
          <p:nvPr>
            <p:ph sz="half" idx="1" hasCustomPrompt="1"/>
          </p:nvPr>
        </p:nvSpPr>
        <p:spPr bwMode="gray">
          <a:xfrm>
            <a:off x="557929" y="1767532"/>
            <a:ext cx="5238478"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5" name="Content Placeholder 2"/>
          <p:cNvSpPr>
            <a:spLocks noGrp="1"/>
          </p:cNvSpPr>
          <p:nvPr>
            <p:ph sz="half" idx="10" hasCustomPrompt="1"/>
          </p:nvPr>
        </p:nvSpPr>
        <p:spPr bwMode="gray">
          <a:xfrm>
            <a:off x="6384175" y="1767532"/>
            <a:ext cx="5238478"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49873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7A5510-A33E-5747-2411-D5177306E0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56ABE3-69F5-5F40-13FA-467CE132C4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02CEFA-181F-22C0-8FD8-2DAB60F497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F2DAFD-633C-494E-A490-66EED5C42CF5}" type="datetimeFigureOut">
              <a:rPr lang="en-US" smtClean="0"/>
              <a:t>5/6/26</a:t>
            </a:fld>
            <a:endParaRPr lang="en-US"/>
          </a:p>
        </p:txBody>
      </p:sp>
      <p:sp>
        <p:nvSpPr>
          <p:cNvPr id="5" name="Footer Placeholder 4">
            <a:extLst>
              <a:ext uri="{FF2B5EF4-FFF2-40B4-BE49-F238E27FC236}">
                <a16:creationId xmlns:a16="http://schemas.microsoft.com/office/drawing/2014/main" id="{31058975-F76B-AFF3-0B3D-A92E09345C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2710024-CA88-44C6-7E0E-FE78B27856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2A09C0-9B74-2240-B0A7-92E079E7D32F}" type="slidenum">
              <a:rPr lang="en-US" smtClean="0"/>
              <a:t>‹#›</a:t>
            </a:fld>
            <a:endParaRPr lang="en-US"/>
          </a:p>
        </p:txBody>
      </p:sp>
    </p:spTree>
    <p:extLst>
      <p:ext uri="{BB962C8B-B14F-4D97-AF65-F5344CB8AC3E}">
        <p14:creationId xmlns:p14="http://schemas.microsoft.com/office/powerpoint/2010/main" val="3283506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tags" Target="../tags/tag3.xml"/><Relationship Id="rId4" Type="http://schemas.openxmlformats.org/officeDocument/2006/relationships/image" Target="../media/image5.emf"/></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tags" Target="../tags/tag4.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jpe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5.png"/><Relationship Id="rId2" Type="http://schemas.openxmlformats.org/officeDocument/2006/relationships/slideLayout" Target="../slideLayouts/slideLayout14.xml"/><Relationship Id="rId1" Type="http://schemas.openxmlformats.org/officeDocument/2006/relationships/tags" Target="../tags/tag5.xml"/><Relationship Id="rId6" Type="http://schemas.openxmlformats.org/officeDocument/2006/relationships/image" Target="../media/image14.png"/><Relationship Id="rId5" Type="http://schemas.openxmlformats.org/officeDocument/2006/relationships/image" Target="../media/image5.e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6.xml"/><Relationship Id="rId6" Type="http://schemas.openxmlformats.org/officeDocument/2006/relationships/image" Target="../media/image9.svg"/><Relationship Id="rId5" Type="http://schemas.openxmlformats.org/officeDocument/2006/relationships/image" Target="../media/image5.emf"/><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7.xml"/><Relationship Id="rId7" Type="http://schemas.openxmlformats.org/officeDocument/2006/relationships/image" Target="../media/image12.png"/><Relationship Id="rId2" Type="http://schemas.openxmlformats.org/officeDocument/2006/relationships/slideLayout" Target="../slideLayouts/slideLayout14.xml"/><Relationship Id="rId1" Type="http://schemas.openxmlformats.org/officeDocument/2006/relationships/tags" Target="../tags/tag7.xml"/><Relationship Id="rId6" Type="http://schemas.openxmlformats.org/officeDocument/2006/relationships/image" Target="../media/image13.png"/><Relationship Id="rId5" Type="http://schemas.openxmlformats.org/officeDocument/2006/relationships/image" Target="../media/image5.e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6ED74E6-4C37-4C0E-AAE1-5A70BD3CECD6}"/>
              </a:ext>
            </a:extLst>
          </p:cNvPr>
          <p:cNvGraphicFramePr>
            <a:graphicFrameLocks noChangeAspect="1"/>
          </p:cNvGraphicFramePr>
          <p:nvPr>
            <p:custDataLst>
              <p:tags r:id="rId1"/>
            </p:custDataLst>
          </p:nvPr>
        </p:nvGraphicFramePr>
        <p:xfrm>
          <a:off x="4762" y="2480"/>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86ED74E6-4C37-4C0E-AAE1-5A70BD3CECD6}"/>
                          </a:ext>
                        </a:extLst>
                      </p:cNvPr>
                      <p:cNvPicPr/>
                      <p:nvPr/>
                    </p:nvPicPr>
                    <p:blipFill>
                      <a:blip r:embed="rId6"/>
                      <a:stretch>
                        <a:fillRect/>
                      </a:stretch>
                    </p:blipFill>
                    <p:spPr>
                      <a:xfrm>
                        <a:off x="4762" y="2480"/>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9AC0D92-D3F8-43BE-8571-0B891A28BCA4}"/>
              </a:ext>
            </a:extLst>
          </p:cNvPr>
          <p:cNvSpPr/>
          <p:nvPr>
            <p:custDataLst>
              <p:tags r:id="rId2"/>
            </p:custDataLst>
          </p:nvPr>
        </p:nvSpPr>
        <p:spPr bwMode="gray">
          <a:xfrm>
            <a:off x="3176" y="894"/>
            <a:ext cx="158709" cy="158709"/>
          </a:xfrm>
          <a:prstGeom prst="rect">
            <a:avLst/>
          </a:prstGeom>
          <a:solidFill>
            <a:srgbClr val="CC0000"/>
          </a:solidFill>
          <a:ln>
            <a:no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numCol="1" spcCol="0" rtlCol="0" anchor="ctr" anchorCtr="0">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3999" b="1" i="0" u="none" strike="noStrike" kern="1200" cap="none" spc="0" normalizeH="0" baseline="0" noProof="0">
              <a:ln>
                <a:noFill/>
              </a:ln>
              <a:solidFill>
                <a:prstClr val="white"/>
              </a:solidFill>
              <a:effectLst/>
              <a:uLnTx/>
              <a:uFillTx/>
              <a:latin typeface="CVS Health Sans" panose="020B0504020202020204" pitchFamily="34" charset="0"/>
              <a:ea typeface="+mn-ea"/>
              <a:cs typeface="+mn-cs"/>
              <a:sym typeface="CVS Health Sans" panose="020B0504020202020204" pitchFamily="34" charset="0"/>
            </a:endParaRPr>
          </a:p>
        </p:txBody>
      </p:sp>
      <p:sp>
        <p:nvSpPr>
          <p:cNvPr id="13" name="Text Placeholder 1">
            <a:extLst>
              <a:ext uri="{FF2B5EF4-FFF2-40B4-BE49-F238E27FC236}">
                <a16:creationId xmlns:a16="http://schemas.microsoft.com/office/drawing/2014/main" id="{6D2AB6CA-CBB5-583D-58C9-921DECD59FBB}"/>
              </a:ext>
            </a:extLst>
          </p:cNvPr>
          <p:cNvSpPr txBox="1">
            <a:spLocks/>
          </p:cNvSpPr>
          <p:nvPr/>
        </p:nvSpPr>
        <p:spPr bwMode="gray">
          <a:xfrm>
            <a:off x="568076" y="5062505"/>
            <a:ext cx="4792246" cy="1261995"/>
          </a:xfrm>
          <a:prstGeom prst="rect">
            <a:avLst/>
          </a:prstGeom>
        </p:spPr>
        <p:txBody>
          <a:bodyPr vert="horz" lIns="0" tIns="0" rIns="0" bIns="0" rtlCol="0" anchor="t">
            <a:noAutofit/>
          </a:bodyPr>
          <a:lstStyle>
            <a:lvl1pPr marL="0" indent="0" algn="l" defTabSz="457200" rtl="0" eaLnBrk="1" fontAlgn="ctr" latinLnBrk="0" hangingPunct="1">
              <a:lnSpc>
                <a:spcPct val="100000"/>
              </a:lnSpc>
              <a:spcBef>
                <a:spcPts val="1800"/>
              </a:spcBef>
              <a:buClrTx/>
              <a:buFont typeface="Arial"/>
              <a:buNone/>
              <a:defRPr sz="1500" b="1" kern="1200">
                <a:solidFill>
                  <a:schemeClr val="tx2"/>
                </a:solidFill>
                <a:latin typeface="+mn-lt"/>
                <a:ea typeface="+mn-ea"/>
                <a:cs typeface="+mn-cs"/>
              </a:defRPr>
            </a:lvl1pPr>
            <a:lvl2pPr marL="0" indent="0" algn="l" defTabSz="457200" rtl="0" eaLnBrk="1" fontAlgn="ctr" latinLnBrk="0" hangingPunct="1">
              <a:lnSpc>
                <a:spcPct val="100000"/>
              </a:lnSpc>
              <a:spcBef>
                <a:spcPts val="0"/>
              </a:spcBef>
              <a:spcAft>
                <a:spcPts val="2400"/>
              </a:spcAft>
              <a:buClrTx/>
              <a:buFontTx/>
              <a:buNone/>
              <a:defRPr sz="1300" kern="1200">
                <a:solidFill>
                  <a:schemeClr val="tx2"/>
                </a:solidFill>
                <a:latin typeface="+mn-lt"/>
                <a:ea typeface="+mn-ea"/>
                <a:cs typeface="+mn-cs"/>
              </a:defRPr>
            </a:lvl2pPr>
            <a:lvl3pPr marL="0" indent="0" algn="l" defTabSz="457200" rtl="0" eaLnBrk="1" fontAlgn="ctr" latinLnBrk="0" hangingPunct="1">
              <a:lnSpc>
                <a:spcPct val="100000"/>
              </a:lnSpc>
              <a:spcBef>
                <a:spcPts val="600"/>
              </a:spcBef>
              <a:buClrTx/>
              <a:buFontTx/>
              <a:buNone/>
              <a:defRPr sz="12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bg1"/>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bg1"/>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pPr marL="0" marR="0" lvl="2" indent="0" algn="l" defTabSz="457200" rtl="0" eaLnBrk="1" fontAlgn="ctr" latinLnBrk="0" hangingPunct="1">
              <a:lnSpc>
                <a:spcPct val="100000"/>
              </a:lnSpc>
              <a:spcBef>
                <a:spcPts val="600"/>
              </a:spcBef>
              <a:spcAft>
                <a:spcPts val="0"/>
              </a:spcAft>
              <a:buClrTx/>
              <a:buSzTx/>
              <a:buFontTx/>
              <a:buNone/>
              <a:tabLst/>
              <a:defRPr/>
            </a:pPr>
            <a:r>
              <a:rPr kumimoji="0" lang="en-US" sz="1600" b="0" i="1" u="none" strike="noStrike" kern="1200" cap="none" spc="0" normalizeH="0" baseline="0" noProof="0">
                <a:ln>
                  <a:noFill/>
                </a:ln>
                <a:solidFill>
                  <a:srgbClr val="3F3F3F"/>
                </a:solidFill>
                <a:effectLst/>
                <a:uLnTx/>
                <a:uFillTx/>
                <a:latin typeface="CVS Health Sans"/>
                <a:ea typeface="+mn-ea"/>
                <a:cs typeface="+mn-cs"/>
              </a:rPr>
              <a:t>Pritha Ghosh</a:t>
            </a:r>
          </a:p>
          <a:p>
            <a:pPr marL="0" marR="0" lvl="2" indent="0" algn="l" defTabSz="457200" rtl="0" eaLnBrk="1" fontAlgn="ctr" latinLnBrk="0" hangingPunct="1">
              <a:lnSpc>
                <a:spcPct val="100000"/>
              </a:lnSpc>
              <a:spcBef>
                <a:spcPts val="600"/>
              </a:spcBef>
              <a:spcAft>
                <a:spcPts val="0"/>
              </a:spcAft>
              <a:buClrTx/>
              <a:buSzTx/>
              <a:buFontTx/>
              <a:buNone/>
              <a:tabLst/>
              <a:defRPr/>
            </a:pPr>
            <a:r>
              <a:rPr lang="en-US" sz="1600" i="1">
                <a:solidFill>
                  <a:srgbClr val="3F3F3F"/>
                </a:solidFill>
                <a:latin typeface="CVS Health Sans"/>
              </a:rPr>
              <a:t>Daniel Xing</a:t>
            </a:r>
          </a:p>
          <a:p>
            <a:pPr marL="0" marR="0" lvl="2" indent="0" algn="l" defTabSz="457200" rtl="0" eaLnBrk="1" fontAlgn="ctr" latinLnBrk="0" hangingPunct="1">
              <a:lnSpc>
                <a:spcPct val="100000"/>
              </a:lnSpc>
              <a:spcBef>
                <a:spcPts val="600"/>
              </a:spcBef>
              <a:spcAft>
                <a:spcPts val="0"/>
              </a:spcAft>
              <a:buClrTx/>
              <a:buSzTx/>
              <a:buFontTx/>
              <a:buNone/>
              <a:tabLst/>
              <a:defRPr/>
            </a:pPr>
            <a:r>
              <a:rPr kumimoji="0" lang="en-US" sz="1600" b="0" i="1" u="none" strike="noStrike" kern="1200" cap="none" spc="0" normalizeH="0" baseline="0" noProof="0">
                <a:ln>
                  <a:noFill/>
                </a:ln>
                <a:solidFill>
                  <a:srgbClr val="3F3F3F"/>
                </a:solidFill>
                <a:effectLst/>
                <a:uLnTx/>
                <a:uFillTx/>
                <a:latin typeface="CVS Health Sans"/>
                <a:ea typeface="+mn-ea"/>
                <a:cs typeface="+mn-cs"/>
              </a:rPr>
              <a:t>Matt Anderson</a:t>
            </a:r>
          </a:p>
          <a:p>
            <a:pPr marL="0" marR="0" lvl="2" indent="0" algn="l" defTabSz="457200" rtl="0" eaLnBrk="1" fontAlgn="ctr" latinLnBrk="0" hangingPunct="1">
              <a:lnSpc>
                <a:spcPct val="100000"/>
              </a:lnSpc>
              <a:spcBef>
                <a:spcPts val="600"/>
              </a:spcBef>
              <a:spcAft>
                <a:spcPts val="0"/>
              </a:spcAft>
              <a:buClrTx/>
              <a:buSzTx/>
              <a:buFontTx/>
              <a:buNone/>
              <a:tabLst/>
              <a:defRPr/>
            </a:pPr>
            <a:endParaRPr kumimoji="0" lang="en-US" sz="1600" b="0" i="1" u="none" strike="noStrike" kern="1200" cap="none" spc="0" normalizeH="0" baseline="0" noProof="0">
              <a:ln>
                <a:noFill/>
              </a:ln>
              <a:solidFill>
                <a:srgbClr val="3F3F3F"/>
              </a:solidFill>
              <a:effectLst/>
              <a:uLnTx/>
              <a:uFillTx/>
              <a:latin typeface="CVS Health Sans"/>
              <a:ea typeface="+mn-ea"/>
              <a:cs typeface="+mn-cs"/>
            </a:endParaRPr>
          </a:p>
          <a:p>
            <a:pPr marL="0" marR="0" lvl="2" indent="0" algn="l" defTabSz="457200" rtl="0" eaLnBrk="1" fontAlgn="ctr" latinLnBrk="0" hangingPunct="1">
              <a:lnSpc>
                <a:spcPct val="100000"/>
              </a:lnSpc>
              <a:spcBef>
                <a:spcPts val="600"/>
              </a:spcBef>
              <a:spcAft>
                <a:spcPts val="0"/>
              </a:spcAft>
              <a:buClrTx/>
              <a:buSzTx/>
              <a:buFontTx/>
              <a:buNone/>
              <a:tabLst/>
              <a:defRPr/>
            </a:pPr>
            <a:r>
              <a:rPr lang="en-US" sz="1600" i="1">
                <a:solidFill>
                  <a:srgbClr val="3F3F3F"/>
                </a:solidFill>
                <a:latin typeface="CVS Health Sans"/>
              </a:rPr>
              <a:t>January 2026</a:t>
            </a:r>
            <a:endParaRPr kumimoji="0" lang="en-US" sz="1600" b="0" i="1" u="none" strike="noStrike" kern="1200" cap="none" spc="0" normalizeH="0" baseline="0" noProof="0">
              <a:ln>
                <a:noFill/>
              </a:ln>
              <a:solidFill>
                <a:srgbClr val="3F3F3F"/>
              </a:solidFill>
              <a:effectLst/>
              <a:uLnTx/>
              <a:uFillTx/>
              <a:latin typeface="CVS Health Sans"/>
              <a:ea typeface="+mn-ea"/>
              <a:cs typeface="+mn-cs"/>
            </a:endParaRPr>
          </a:p>
        </p:txBody>
      </p:sp>
      <p:sp>
        <p:nvSpPr>
          <p:cNvPr id="14" name="Text Placeholder 1">
            <a:extLst>
              <a:ext uri="{FF2B5EF4-FFF2-40B4-BE49-F238E27FC236}">
                <a16:creationId xmlns:a16="http://schemas.microsoft.com/office/drawing/2014/main" id="{9B63DB33-066C-2595-0884-12F7F1EB4F98}"/>
              </a:ext>
            </a:extLst>
          </p:cNvPr>
          <p:cNvSpPr txBox="1">
            <a:spLocks/>
          </p:cNvSpPr>
          <p:nvPr/>
        </p:nvSpPr>
        <p:spPr bwMode="gray">
          <a:xfrm>
            <a:off x="568077" y="4843904"/>
            <a:ext cx="3582017" cy="1261995"/>
          </a:xfrm>
          <a:prstGeom prst="rect">
            <a:avLst/>
          </a:prstGeom>
        </p:spPr>
        <p:txBody>
          <a:bodyPr vert="horz" lIns="0" tIns="0" rIns="0" bIns="0" rtlCol="0" anchor="t">
            <a:noAutofit/>
          </a:bodyPr>
          <a:lstStyle>
            <a:lvl1pPr marL="0" indent="0" algn="l" defTabSz="457200" rtl="0" eaLnBrk="1" fontAlgn="ctr" latinLnBrk="0" hangingPunct="1">
              <a:lnSpc>
                <a:spcPct val="100000"/>
              </a:lnSpc>
              <a:spcBef>
                <a:spcPts val="1800"/>
              </a:spcBef>
              <a:buClrTx/>
              <a:buFont typeface="Arial"/>
              <a:buNone/>
              <a:defRPr sz="1500" b="1" kern="1200">
                <a:solidFill>
                  <a:schemeClr val="tx2"/>
                </a:solidFill>
                <a:latin typeface="+mn-lt"/>
                <a:ea typeface="+mn-ea"/>
                <a:cs typeface="+mn-cs"/>
              </a:defRPr>
            </a:lvl1pPr>
            <a:lvl2pPr marL="0" indent="0" algn="l" defTabSz="457200" rtl="0" eaLnBrk="1" fontAlgn="ctr" latinLnBrk="0" hangingPunct="1">
              <a:lnSpc>
                <a:spcPct val="100000"/>
              </a:lnSpc>
              <a:spcBef>
                <a:spcPts val="0"/>
              </a:spcBef>
              <a:spcAft>
                <a:spcPts val="2400"/>
              </a:spcAft>
              <a:buClrTx/>
              <a:buFontTx/>
              <a:buNone/>
              <a:defRPr sz="1300" kern="1200">
                <a:solidFill>
                  <a:schemeClr val="tx2"/>
                </a:solidFill>
                <a:latin typeface="+mn-lt"/>
                <a:ea typeface="+mn-ea"/>
                <a:cs typeface="+mn-cs"/>
              </a:defRPr>
            </a:lvl2pPr>
            <a:lvl3pPr marL="0" indent="0" algn="l" defTabSz="457200" rtl="0" eaLnBrk="1" fontAlgn="ctr" latinLnBrk="0" hangingPunct="1">
              <a:lnSpc>
                <a:spcPct val="100000"/>
              </a:lnSpc>
              <a:spcBef>
                <a:spcPts val="600"/>
              </a:spcBef>
              <a:buClrTx/>
              <a:buFontTx/>
              <a:buNone/>
              <a:defRPr sz="12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bg1"/>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bg1"/>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pPr marL="0" marR="0" lvl="2" indent="0" algn="l" defTabSz="457200" rtl="0" eaLnBrk="1" fontAlgn="ctr" latinLnBrk="0" hangingPunct="1">
              <a:lnSpc>
                <a:spcPct val="100000"/>
              </a:lnSpc>
              <a:spcBef>
                <a:spcPts val="600"/>
              </a:spcBef>
              <a:spcAft>
                <a:spcPts val="0"/>
              </a:spcAft>
              <a:buClrTx/>
              <a:buSzTx/>
              <a:buFontTx/>
              <a:buNone/>
              <a:tabLst/>
              <a:defRPr/>
            </a:pPr>
            <a:endParaRPr kumimoji="0" lang="en-US" sz="1200" b="0" i="1" u="none" strike="noStrike" kern="1200" cap="none" spc="0" normalizeH="0" baseline="0" noProof="0">
              <a:ln>
                <a:noFill/>
              </a:ln>
              <a:solidFill>
                <a:srgbClr val="3F3F3F"/>
              </a:solidFill>
              <a:effectLst/>
              <a:uLnTx/>
              <a:uFillTx/>
              <a:latin typeface="CVS Health Sans"/>
              <a:ea typeface="+mn-ea"/>
              <a:cs typeface="+mn-cs"/>
            </a:endParaRPr>
          </a:p>
        </p:txBody>
      </p:sp>
      <p:sp>
        <p:nvSpPr>
          <p:cNvPr id="2" name="Title 6">
            <a:extLst>
              <a:ext uri="{FF2B5EF4-FFF2-40B4-BE49-F238E27FC236}">
                <a16:creationId xmlns:a16="http://schemas.microsoft.com/office/drawing/2014/main" id="{49D591B8-9CD1-46E9-C1CA-765F65A44B24}"/>
              </a:ext>
            </a:extLst>
          </p:cNvPr>
          <p:cNvSpPr>
            <a:spLocks noGrp="1"/>
          </p:cNvSpPr>
          <p:nvPr>
            <p:ph type="ctrTitle"/>
          </p:nvPr>
        </p:nvSpPr>
        <p:spPr>
          <a:xfrm>
            <a:off x="568076" y="3124080"/>
            <a:ext cx="5444432" cy="1811130"/>
          </a:xfrm>
        </p:spPr>
        <p:txBody>
          <a:bodyPr vert="horz"/>
          <a:lstStyle/>
          <a:p>
            <a:r>
              <a:rPr lang="en-US" sz="3200"/>
              <a:t>Transformer Embeddings</a:t>
            </a:r>
            <a:br>
              <a:rPr lang="en-US" sz="3200" i="1"/>
            </a:br>
            <a:endParaRPr lang="en-US" sz="1600" b="0" i="1"/>
          </a:p>
        </p:txBody>
      </p:sp>
    </p:spTree>
    <p:extLst>
      <p:ext uri="{BB962C8B-B14F-4D97-AF65-F5344CB8AC3E}">
        <p14:creationId xmlns:p14="http://schemas.microsoft.com/office/powerpoint/2010/main" val="3123903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B5C740C5-5680-4777-BE52-84E2BD796FEE}"/>
              </a:ext>
            </a:extLst>
          </p:cNvPr>
          <p:cNvGraphicFramePr>
            <a:graphicFrameLocks noChangeAspect="1"/>
          </p:cNvGraphicFramePr>
          <p:nvPr>
            <p:custDataLst>
              <p:tags r:id="rId1"/>
            </p:custData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10" name="Object 9" hidden="1">
                        <a:extLst>
                          <a:ext uri="{FF2B5EF4-FFF2-40B4-BE49-F238E27FC236}">
                            <a16:creationId xmlns:a16="http://schemas.microsoft.com/office/drawing/2014/main" id="{B5C740C5-5680-4777-BE52-84E2BD796FEE}"/>
                          </a:ext>
                        </a:extLst>
                      </p:cNvPr>
                      <p:cNvPicPr/>
                      <p:nvPr/>
                    </p:nvPicPr>
                    <p:blipFill>
                      <a:blip r:embed="rId4"/>
                      <a:stretch>
                        <a:fillRect/>
                      </a:stretch>
                    </p:blipFill>
                    <p:spPr>
                      <a:xfrm>
                        <a:off x="3176" y="1588"/>
                        <a:ext cx="1588" cy="1588"/>
                      </a:xfrm>
                      <a:prstGeom prst="rect">
                        <a:avLst/>
                      </a:prstGeom>
                    </p:spPr>
                  </p:pic>
                </p:oleObj>
              </mc:Fallback>
            </mc:AlternateContent>
          </a:graphicData>
        </a:graphic>
      </p:graphicFrame>
      <p:grpSp>
        <p:nvGrpSpPr>
          <p:cNvPr id="3" name="Group 2">
            <a:extLst>
              <a:ext uri="{FF2B5EF4-FFF2-40B4-BE49-F238E27FC236}">
                <a16:creationId xmlns:a16="http://schemas.microsoft.com/office/drawing/2014/main" id="{8234D7D9-2121-4C48-B73D-AF96D6D6A6B0}"/>
              </a:ext>
              <a:ext uri="{C183D7F6-B498-43B3-948B-1728B52AA6E4}">
                <adec:decorative xmlns:adec="http://schemas.microsoft.com/office/drawing/2017/decorative" val="1"/>
              </a:ext>
            </a:extLst>
          </p:cNvPr>
          <p:cNvGrpSpPr/>
          <p:nvPr/>
        </p:nvGrpSpPr>
        <p:grpSpPr>
          <a:xfrm>
            <a:off x="5899152" y="2649212"/>
            <a:ext cx="393699" cy="1559576"/>
            <a:chOff x="5897563" y="2649212"/>
            <a:chExt cx="393699" cy="1559576"/>
          </a:xfrm>
        </p:grpSpPr>
        <p:cxnSp>
          <p:nvCxnSpPr>
            <p:cNvPr id="4" name="Straight Connector 3">
              <a:extLst>
                <a:ext uri="{FF2B5EF4-FFF2-40B4-BE49-F238E27FC236}">
                  <a16:creationId xmlns:a16="http://schemas.microsoft.com/office/drawing/2014/main" id="{16C407EC-732B-4543-8411-91439666EF94}"/>
                </a:ext>
                <a:ext uri="{C183D7F6-B498-43B3-948B-1728B52AA6E4}">
                  <adec:decorative xmlns:adec="http://schemas.microsoft.com/office/drawing/2017/decorative" val="1"/>
                </a:ext>
              </a:extLst>
            </p:cNvPr>
            <p:cNvCxnSpPr/>
            <p:nvPr/>
          </p:nvCxnSpPr>
          <p:spPr>
            <a:xfrm>
              <a:off x="5897563" y="2649212"/>
              <a:ext cx="393699"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4AA9187-83F0-4591-8484-213A8E42D882}"/>
                </a:ext>
                <a:ext uri="{C183D7F6-B498-43B3-948B-1728B52AA6E4}">
                  <adec:decorative xmlns:adec="http://schemas.microsoft.com/office/drawing/2017/decorative" val="1"/>
                </a:ext>
              </a:extLst>
            </p:cNvPr>
            <p:cNvCxnSpPr/>
            <p:nvPr/>
          </p:nvCxnSpPr>
          <p:spPr>
            <a:xfrm>
              <a:off x="5897563" y="4208788"/>
              <a:ext cx="393699"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9" name="Title 1">
            <a:extLst>
              <a:ext uri="{FF2B5EF4-FFF2-40B4-BE49-F238E27FC236}">
                <a16:creationId xmlns:a16="http://schemas.microsoft.com/office/drawing/2014/main" id="{2C5FA8AD-2FB0-4B29-B188-D6F5C7A9307F}"/>
              </a:ext>
            </a:extLst>
          </p:cNvPr>
          <p:cNvSpPr txBox="1">
            <a:spLocks/>
          </p:cNvSpPr>
          <p:nvPr/>
        </p:nvSpPr>
        <p:spPr>
          <a:xfrm>
            <a:off x="2439353" y="2402255"/>
            <a:ext cx="7313294" cy="2262498"/>
          </a:xfrm>
          <a:prstGeom prst="rect">
            <a:avLst/>
          </a:prstGeom>
        </p:spPr>
        <p:txBody>
          <a:bodyPr vert="horz" lIns="0" tIns="0" rIns="0" bIns="0" rtlCol="0" anchor="ctr" anchorCtr="0">
            <a:noAutofit/>
          </a:bodyP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pPr marL="0" marR="0" lvl="0" indent="0" algn="ctr" defTabSz="4572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CVS Health Sans"/>
                <a:ea typeface="+mj-ea"/>
                <a:cs typeface="+mj-cs"/>
              </a:rPr>
              <a:t>Model Architecture &amp; Training Ablations</a:t>
            </a:r>
            <a:endParaRPr kumimoji="0" lang="en-US" sz="2550" b="1" i="0" u="none" strike="noStrike" kern="1200" cap="none" spc="0" normalizeH="0" baseline="0" noProof="0">
              <a:ln>
                <a:noFill/>
              </a:ln>
              <a:solidFill>
                <a:prstClr val="white"/>
              </a:solidFill>
              <a:effectLst/>
              <a:uLnTx/>
              <a:uFillTx/>
              <a:latin typeface="CVS Health Sans"/>
              <a:ea typeface="+mj-ea"/>
              <a:cs typeface="+mj-cs"/>
            </a:endParaRPr>
          </a:p>
        </p:txBody>
      </p:sp>
    </p:spTree>
    <p:extLst>
      <p:ext uri="{BB962C8B-B14F-4D97-AF65-F5344CB8AC3E}">
        <p14:creationId xmlns:p14="http://schemas.microsoft.com/office/powerpoint/2010/main" val="3639603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01B46-7138-327D-E012-990834545385}"/>
              </a:ext>
            </a:extLst>
          </p:cNvPr>
          <p:cNvSpPr>
            <a:spLocks noGrp="1"/>
          </p:cNvSpPr>
          <p:nvPr>
            <p:ph type="title"/>
          </p:nvPr>
        </p:nvSpPr>
        <p:spPr>
          <a:xfrm>
            <a:off x="557929" y="356179"/>
            <a:ext cx="9667726" cy="713232"/>
          </a:xfrm>
        </p:spPr>
        <p:txBody>
          <a:bodyPr>
            <a:normAutofit/>
          </a:bodyPr>
          <a:lstStyle/>
          <a:p>
            <a:r>
              <a:rPr lang="en-US" sz="3600"/>
              <a:t>Model Architecture and Refactoring</a:t>
            </a:r>
          </a:p>
        </p:txBody>
      </p:sp>
      <p:sp>
        <p:nvSpPr>
          <p:cNvPr id="6" name="Content Placeholder 2">
            <a:extLst>
              <a:ext uri="{FF2B5EF4-FFF2-40B4-BE49-F238E27FC236}">
                <a16:creationId xmlns:a16="http://schemas.microsoft.com/office/drawing/2014/main" id="{6949B438-BC0A-8F38-3182-FC23D25FAE07}"/>
              </a:ext>
            </a:extLst>
          </p:cNvPr>
          <p:cNvSpPr>
            <a:spLocks noGrp="1"/>
          </p:cNvSpPr>
          <p:nvPr>
            <p:ph idx="1"/>
          </p:nvPr>
        </p:nvSpPr>
        <p:spPr>
          <a:xfrm>
            <a:off x="876710" y="1069411"/>
            <a:ext cx="3350042" cy="5255189"/>
          </a:xfrm>
        </p:spPr>
        <p:txBody>
          <a:bodyPr/>
          <a:lstStyle/>
          <a:p>
            <a:r>
              <a:rPr lang="en-US" sz="1400"/>
              <a:t>Preserve hierarchical structure</a:t>
            </a:r>
            <a:endParaRPr lang="en-US" sz="1200" b="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Hierarchical structure</a:t>
            </a:r>
            <a:r>
              <a:rPr lang="en-US" sz="1200" b="0"/>
              <a:t> for encoding within- (80 codes) and inter-day (200 days)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t>Trained to predict </a:t>
            </a:r>
            <a:r>
              <a:rPr lang="en-US" sz="1200"/>
              <a:t>next-day medical codes</a:t>
            </a:r>
            <a:r>
              <a:rPr lang="en-US" sz="1200" b="0"/>
              <a:t> (multi-label, 6,297 target groups)</a:t>
            </a:r>
          </a:p>
          <a:p>
            <a:pPr marL="0" marR="0" lvl="0" indent="0" algn="l" defTabSz="457200" rtl="0" eaLnBrk="1" fontAlgn="ctr" latinLnBrk="0" hangingPunct="1">
              <a:lnSpc>
                <a:spcPct val="100000"/>
              </a:lnSpc>
              <a:spcBef>
                <a:spcPts val="1800"/>
              </a:spcBef>
              <a:spcAft>
                <a:spcPts val="0"/>
              </a:spcAft>
              <a:buClr>
                <a:srgbClr val="000000"/>
              </a:buClr>
              <a:buSzTx/>
              <a:buFont typeface="Arial"/>
              <a:buNone/>
              <a:tabLst/>
              <a:defRPr/>
            </a:pPr>
            <a:r>
              <a:rPr kumimoji="0" lang="en-US" sz="1400" b="1" i="0" u="none" strike="noStrike" kern="1200" cap="none" spc="0" normalizeH="0" baseline="0" noProof="0">
                <a:ln>
                  <a:noFill/>
                </a:ln>
                <a:solidFill>
                  <a:srgbClr val="3F3F3F"/>
                </a:solidFill>
                <a:effectLst/>
                <a:uLnTx/>
                <a:uFillTx/>
                <a:ea typeface="+mn-ea"/>
                <a:cs typeface="+mn-cs"/>
              </a:rPr>
              <a:t>Training &amp; inference efficiency</a:t>
            </a:r>
            <a:endParaRPr kumimoji="0" lang="en-US" sz="1200" b="0" i="0" u="none" strike="noStrike" kern="1200" cap="none" spc="0" normalizeH="0" baseline="0" noProof="0">
              <a:ln>
                <a:noFill/>
              </a:ln>
              <a:solidFill>
                <a:srgbClr val="3F3F3F"/>
              </a:solidFill>
              <a:effectLst/>
              <a:uLnTx/>
              <a:uFillTx/>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ea typeface="+mn-ea"/>
                <a:cs typeface="+mn-cs"/>
              </a:rPr>
              <a:t>Replace the attention layer with </a:t>
            </a:r>
            <a:r>
              <a:rPr kumimoji="0" lang="en-US" sz="1200" b="1" i="0" u="none" strike="noStrike" kern="1200" cap="none" spc="0" normalizeH="0" baseline="0" noProof="0">
                <a:ln>
                  <a:noFill/>
                </a:ln>
                <a:solidFill>
                  <a:srgbClr val="3F3F3F"/>
                </a:solidFill>
                <a:effectLst/>
                <a:uLnTx/>
                <a:uFillTx/>
                <a:ea typeface="+mn-ea"/>
                <a:cs typeface="+mn-cs"/>
              </a:rPr>
              <a:t>flash attention (FA) </a:t>
            </a:r>
            <a:r>
              <a:rPr kumimoji="0" lang="en-US" sz="1200" b="0" i="0" u="none" strike="noStrike" kern="1200" cap="none" spc="0" normalizeH="0" baseline="0" noProof="0">
                <a:ln>
                  <a:noFill/>
                </a:ln>
                <a:solidFill>
                  <a:srgbClr val="3F3F3F"/>
                </a:solidFill>
                <a:effectLst/>
                <a:uLnTx/>
                <a:uFillTx/>
                <a:ea typeface="+mn-ea"/>
                <a:cs typeface="+mn-cs"/>
              </a:rPr>
              <a:t>to avoid GPU IO bottleneck and provides faster training with less GPU memory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rgbClr val="3F3F3F"/>
                </a:solidFill>
              </a:rPr>
              <a:t>Replace the regular FFN with </a:t>
            </a:r>
            <a:r>
              <a:rPr lang="en-US" sz="1200" b="0" err="1">
                <a:solidFill>
                  <a:srgbClr val="3F3F3F"/>
                </a:solidFill>
              </a:rPr>
              <a:t>SwiGLU</a:t>
            </a:r>
            <a:r>
              <a:rPr lang="en-US" sz="1200" b="0">
                <a:solidFill>
                  <a:srgbClr val="3F3F3F"/>
                </a:solidFill>
              </a:rPr>
              <a:t> FFN for stable training and context-aware feature selection</a:t>
            </a:r>
            <a:endParaRPr kumimoji="0" lang="en-US" sz="1400" b="1" i="0" u="none" strike="noStrike" kern="1200" cap="none" spc="0" normalizeH="0" baseline="0" noProof="0">
              <a:ln>
                <a:noFill/>
              </a:ln>
              <a:solidFill>
                <a:srgbClr val="3F3F3F"/>
              </a:solidFill>
              <a:effectLst/>
              <a:uLnTx/>
              <a:uFillTx/>
              <a:ea typeface="+mn-ea"/>
              <a:cs typeface="+mn-cs"/>
            </a:endParaRPr>
          </a:p>
          <a:p>
            <a:pPr marL="0" marR="0" lvl="0" indent="0" algn="l" defTabSz="457200" rtl="0" eaLnBrk="1" fontAlgn="ctr" latinLnBrk="0" hangingPunct="1">
              <a:lnSpc>
                <a:spcPct val="100000"/>
              </a:lnSpc>
              <a:spcBef>
                <a:spcPts val="1800"/>
              </a:spcBef>
              <a:spcAft>
                <a:spcPts val="0"/>
              </a:spcAft>
              <a:buClr>
                <a:srgbClr val="000000"/>
              </a:buClr>
              <a:buSzTx/>
              <a:buFont typeface="Arial"/>
              <a:buNone/>
              <a:tabLst/>
              <a:defRPr/>
            </a:pPr>
            <a:r>
              <a:rPr kumimoji="0" lang="en-US" sz="1400" b="1" i="0" u="none" strike="noStrike" kern="1200" cap="none" spc="0" normalizeH="0" baseline="0" noProof="0">
                <a:ln>
                  <a:noFill/>
                </a:ln>
                <a:solidFill>
                  <a:srgbClr val="3F3F3F"/>
                </a:solidFill>
                <a:effectLst/>
                <a:uLnTx/>
                <a:uFillTx/>
                <a:ea typeface="+mn-ea"/>
                <a:cs typeface="+mn-cs"/>
              </a:rPr>
              <a:t>Optimize training strategy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ea typeface="+mn-ea"/>
                <a:cs typeface="+mn-cs"/>
              </a:rPr>
              <a:t>Weighted BCE loss accounting for rare codes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ea typeface="+mn-ea"/>
                <a:cs typeface="+mn-cs"/>
              </a:rPr>
              <a:t>Enable mixed precision training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ea typeface="+mn-ea"/>
                <a:cs typeface="+mn-cs"/>
              </a:rPr>
              <a:t>SGD -&gt; Adam learning rate optimizer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3F3F3F"/>
                </a:solidFill>
                <a:effectLst/>
                <a:uLnTx/>
                <a:uFillTx/>
                <a:ea typeface="+mn-ea"/>
                <a:cs typeface="+mn-cs"/>
              </a:rPr>
              <a:t>Head dimension 16 -&gt; 32 (fit flash attention)</a:t>
            </a:r>
            <a:endParaRPr lang="en-US" sz="1400"/>
          </a:p>
        </p:txBody>
      </p:sp>
      <p:sp>
        <p:nvSpPr>
          <p:cNvPr id="3" name="TextBox 2">
            <a:extLst>
              <a:ext uri="{FF2B5EF4-FFF2-40B4-BE49-F238E27FC236}">
                <a16:creationId xmlns:a16="http://schemas.microsoft.com/office/drawing/2014/main" id="{A71A54EB-8D6C-233B-F065-F6C35F9C8A66}"/>
              </a:ext>
            </a:extLst>
          </p:cNvPr>
          <p:cNvSpPr txBox="1"/>
          <p:nvPr/>
        </p:nvSpPr>
        <p:spPr>
          <a:xfrm>
            <a:off x="7400926" y="6366336"/>
            <a:ext cx="5216036" cy="276999"/>
          </a:xfrm>
          <a:prstGeom prst="rect">
            <a:avLst/>
          </a:prstGeom>
          <a:noFill/>
        </p:spPr>
        <p:txBody>
          <a:bodyPr wrap="square">
            <a:spAutoFit/>
          </a:bodyPr>
          <a:lstStyle/>
          <a:p>
            <a:r>
              <a:rPr lang="en-US" sz="1200" i="1">
                <a:solidFill>
                  <a:schemeClr val="bg1">
                    <a:lumMod val="65000"/>
                  </a:schemeClr>
                </a:solidFill>
                <a:latin typeface="CVS Health Sans" panose="020B0504020202020204" pitchFamily="34" charset="0"/>
              </a:rPr>
              <a:t>INTERNAL USE</a:t>
            </a:r>
            <a:r>
              <a:rPr lang="en-US" sz="1200" b="0" i="1">
                <a:solidFill>
                  <a:schemeClr val="bg1">
                    <a:lumMod val="65000"/>
                  </a:schemeClr>
                </a:solidFill>
                <a:effectLst/>
                <a:latin typeface="CVS Health Sans" panose="020B0504020202020204" pitchFamily="34" charset="0"/>
              </a:rPr>
              <a:t> AND NOT FOR DISTRIBUTION OR RECIRCULATION</a:t>
            </a:r>
            <a:endParaRPr lang="en-US" sz="1200">
              <a:solidFill>
                <a:schemeClr val="bg1">
                  <a:lumMod val="65000"/>
                </a:schemeClr>
              </a:solidFill>
              <a:latin typeface="CVS Health Sans" panose="020B0504020202020204" pitchFamily="34" charset="0"/>
            </a:endParaRPr>
          </a:p>
        </p:txBody>
      </p:sp>
      <p:pic>
        <p:nvPicPr>
          <p:cNvPr id="4" name="Picture 3">
            <a:extLst>
              <a:ext uri="{FF2B5EF4-FFF2-40B4-BE49-F238E27FC236}">
                <a16:creationId xmlns:a16="http://schemas.microsoft.com/office/drawing/2014/main" id="{07A648C2-9704-BBDA-9DCB-4866D02FA88B}"/>
              </a:ext>
            </a:extLst>
          </p:cNvPr>
          <p:cNvPicPr>
            <a:picLocks noChangeAspect="1"/>
          </p:cNvPicPr>
          <p:nvPr/>
        </p:nvPicPr>
        <p:blipFill>
          <a:blip r:embed="rId3"/>
          <a:stretch>
            <a:fillRect/>
          </a:stretch>
        </p:blipFill>
        <p:spPr>
          <a:xfrm>
            <a:off x="6749716" y="943877"/>
            <a:ext cx="5311496" cy="5319572"/>
          </a:xfrm>
          <a:prstGeom prst="rect">
            <a:avLst/>
          </a:prstGeom>
        </p:spPr>
      </p:pic>
    </p:spTree>
    <p:extLst>
      <p:ext uri="{BB962C8B-B14F-4D97-AF65-F5344CB8AC3E}">
        <p14:creationId xmlns:p14="http://schemas.microsoft.com/office/powerpoint/2010/main" val="2865280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3FD3B-5E78-CEB1-6743-BF0C77B38731}"/>
              </a:ext>
            </a:extLst>
          </p:cNvPr>
          <p:cNvSpPr>
            <a:spLocks noGrp="1"/>
          </p:cNvSpPr>
          <p:nvPr>
            <p:ph type="title"/>
          </p:nvPr>
        </p:nvSpPr>
        <p:spPr/>
        <p:txBody>
          <a:bodyPr>
            <a:normAutofit/>
          </a:bodyPr>
          <a:lstStyle/>
          <a:p>
            <a:r>
              <a:rPr lang="en-US" sz="3600" dirty="0"/>
              <a:t>Ablation Results</a:t>
            </a:r>
          </a:p>
        </p:txBody>
      </p:sp>
      <p:sp>
        <p:nvSpPr>
          <p:cNvPr id="3" name="Content Placeholder 2">
            <a:extLst>
              <a:ext uri="{FF2B5EF4-FFF2-40B4-BE49-F238E27FC236}">
                <a16:creationId xmlns:a16="http://schemas.microsoft.com/office/drawing/2014/main" id="{BA016FDC-73BE-019A-2E92-2A971E49252F}"/>
              </a:ext>
            </a:extLst>
          </p:cNvPr>
          <p:cNvSpPr>
            <a:spLocks noGrp="1"/>
          </p:cNvSpPr>
          <p:nvPr>
            <p:ph idx="1"/>
          </p:nvPr>
        </p:nvSpPr>
        <p:spPr>
          <a:xfrm>
            <a:off x="726853" y="1214936"/>
            <a:ext cx="3709272" cy="4870778"/>
          </a:xfrm>
        </p:spPr>
        <p:txBody>
          <a:bodyPr/>
          <a:lstStyle/>
          <a:p>
            <a:r>
              <a:rPr lang="en-US" sz="1400"/>
              <a:t>Data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t>Commercial: 1.06M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t>Medicare: 0.56M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t>Medicaid: 0.13M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t>Day count &gt; 10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t>Time period: 1/1/2023 – 12/31/2023</a:t>
            </a:r>
          </a:p>
          <a:p>
            <a:pPr marL="285750" lvl="0" indent="-285750" defTabSz="914400" fontAlgn="auto">
              <a:spcBef>
                <a:spcPts val="0"/>
              </a:spcBef>
              <a:buClrTx/>
              <a:buFont typeface="Arial" panose="020B0604020202020204" pitchFamily="34" charset="0"/>
              <a:buChar char="•"/>
              <a:defRPr/>
            </a:pPr>
            <a:r>
              <a:rPr lang="en-US" sz="1200" b="0"/>
              <a:t>Claim lookback period: 36 months with 90d delay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t>Full input codes: 75.51k</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t>Target codes: 6.30k</a:t>
            </a:r>
          </a:p>
          <a:p>
            <a:pPr marL="0" marR="0" lvl="0" indent="0" algn="l" defTabSz="457200" rtl="0" eaLnBrk="1" fontAlgn="ctr" latinLnBrk="0" hangingPunct="1">
              <a:lnSpc>
                <a:spcPct val="100000"/>
              </a:lnSpc>
              <a:spcBef>
                <a:spcPts val="1800"/>
              </a:spcBef>
              <a:spcAft>
                <a:spcPts val="0"/>
              </a:spcAft>
              <a:buClr>
                <a:srgbClr val="000000"/>
              </a:buClr>
              <a:buSzTx/>
              <a:buFont typeface="Arial"/>
              <a:buNone/>
              <a:tabLst/>
              <a:defRPr/>
            </a:pPr>
            <a:r>
              <a:rPr kumimoji="0" lang="en-US" sz="1400" b="1" i="0" u="none" strike="noStrike" kern="1200" cap="none" spc="0" normalizeH="0" baseline="0" noProof="0">
                <a:ln>
                  <a:noFill/>
                </a:ln>
                <a:effectLst/>
                <a:uLnTx/>
                <a:uFillTx/>
                <a:ea typeface="+mn-ea"/>
                <a:cs typeface="+mn-cs"/>
              </a:rPr>
              <a:t>Ablation </a:t>
            </a:r>
            <a:r>
              <a:rPr lang="en-US" sz="1400"/>
              <a:t>config.: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effectLst/>
                <a:uLnTx/>
                <a:uFillTx/>
                <a:ea typeface="+mn-ea"/>
                <a:cs typeface="+mn-cs"/>
              </a:rPr>
              <a:t>Legacy baseline: Dense + legacy config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effectLst/>
                <a:uLnTx/>
                <a:uFillTx/>
                <a:ea typeface="+mn-ea"/>
                <a:cs typeface="+mn-cs"/>
              </a:rPr>
              <a:t>Exp2: Dense + optimized config (OC)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t>Exp3: Dense + OC + flash attention (FA)</a:t>
            </a:r>
            <a:endParaRPr kumimoji="0" lang="en-US" sz="1200" b="0" i="0" u="none" strike="noStrike" kern="1200" cap="none" spc="0" normalizeH="0" baseline="0" noProof="0">
              <a:ln>
                <a:noFill/>
              </a:ln>
              <a:effectLst/>
              <a:uLnTx/>
              <a:uFillTx/>
              <a:ea typeface="+mn-ea"/>
              <a:cs typeface="+mn-cs"/>
            </a:endParaRPr>
          </a:p>
          <a:p>
            <a:pPr marL="285750" lvl="0" indent="-285750" defTabSz="914400" fontAlgn="auto">
              <a:spcBef>
                <a:spcPts val="0"/>
              </a:spcBef>
              <a:buClrTx/>
              <a:buFont typeface="Arial" panose="020B0604020202020204" pitchFamily="34" charset="0"/>
              <a:buChar char="•"/>
              <a:defRPr/>
            </a:pPr>
            <a:r>
              <a:rPr lang="en-US" sz="1200" b="0"/>
              <a:t>Exp4: MOE + FA + OC</a:t>
            </a:r>
          </a:p>
          <a:p>
            <a:pPr marL="285750" lvl="0" indent="-285750" defTabSz="914400" fontAlgn="auto">
              <a:spcBef>
                <a:spcPts val="0"/>
              </a:spcBef>
              <a:buClrTx/>
              <a:buFont typeface="Arial" panose="020B0604020202020204" pitchFamily="34" charset="0"/>
              <a:buChar char="•"/>
              <a:defRPr/>
            </a:pPr>
            <a:r>
              <a:rPr lang="en-US" sz="1200" b="0"/>
              <a:t>One epoch</a:t>
            </a:r>
          </a:p>
          <a:p>
            <a:pPr marL="285750" lvl="0" indent="-285750" defTabSz="914400" fontAlgn="auto">
              <a:spcBef>
                <a:spcPts val="0"/>
              </a:spcBef>
              <a:buClrTx/>
              <a:buFont typeface="Arial" panose="020B0604020202020204" pitchFamily="34" charset="0"/>
              <a:buChar char="•"/>
              <a:defRPr/>
            </a:pPr>
            <a:endParaRPr lang="en-US" sz="1200" b="0"/>
          </a:p>
          <a:p>
            <a:pPr lvl="0" defTabSz="914400" fontAlgn="auto">
              <a:spcBef>
                <a:spcPts val="0"/>
              </a:spcBef>
              <a:buClrTx/>
              <a:defRPr/>
            </a:pPr>
            <a:r>
              <a:rPr lang="en-US" sz="1400"/>
              <a:t>Infrastructure:</a:t>
            </a:r>
          </a:p>
          <a:p>
            <a:pPr marL="285750" lvl="0" indent="-285750" defTabSz="914400" fontAlgn="auto">
              <a:spcBef>
                <a:spcPts val="0"/>
              </a:spcBef>
              <a:buClrTx/>
              <a:buFont typeface="Arial" panose="020B0604020202020204" pitchFamily="34" charset="0"/>
              <a:buChar char="•"/>
              <a:defRPr/>
            </a:pPr>
            <a:r>
              <a:rPr kumimoji="0" lang="en-US" sz="1200" b="0" i="0" u="none" strike="noStrike" kern="1200" cap="none" spc="0" normalizeH="0" baseline="0" noProof="0">
                <a:ln>
                  <a:noFill/>
                </a:ln>
                <a:effectLst/>
                <a:uLnTx/>
                <a:uFillTx/>
                <a:ea typeface="+mn-ea"/>
                <a:cs typeface="+mn-cs"/>
              </a:rPr>
              <a:t>GPU: T4 * 4 (16GB HBM each)</a:t>
            </a:r>
          </a:p>
          <a:p>
            <a:pPr marL="285750" indent="-285750" defTabSz="914400" fontAlgn="auto">
              <a:spcBef>
                <a:spcPts val="0"/>
              </a:spcBef>
              <a:buClrTx/>
              <a:buFont typeface="Arial" panose="020B0604020202020204" pitchFamily="34" charset="0"/>
              <a:buChar char="•"/>
              <a:defRPr/>
            </a:pPr>
            <a:r>
              <a:rPr lang="en-US" sz="1200" b="0"/>
              <a:t>Machine type: n1-highmem-64</a:t>
            </a:r>
          </a:p>
          <a:p>
            <a:pPr marL="285750" indent="-285750" defTabSz="914400" fontAlgn="auto">
              <a:spcBef>
                <a:spcPts val="0"/>
              </a:spcBef>
              <a:buClrTx/>
              <a:buFont typeface="Arial" panose="020B0604020202020204" pitchFamily="34" charset="0"/>
              <a:buChar char="•"/>
              <a:defRPr/>
            </a:pPr>
            <a:r>
              <a:rPr kumimoji="0" lang="en-US" sz="1200" b="0" i="0" u="none" strike="noStrike" kern="1200" cap="none" spc="0" normalizeH="0" baseline="0" noProof="0">
                <a:ln>
                  <a:noFill/>
                </a:ln>
                <a:effectLst/>
                <a:uLnTx/>
                <a:uFillTx/>
                <a:ea typeface="+mn-ea"/>
                <a:cs typeface="+mn-cs"/>
              </a:rPr>
              <a:t>Data pa</a:t>
            </a:r>
            <a:r>
              <a:rPr lang="en-US" sz="1200" b="0" err="1"/>
              <a:t>rallelism</a:t>
            </a:r>
            <a:r>
              <a:rPr lang="en-US" sz="1200" b="0"/>
              <a:t> applied</a:t>
            </a:r>
          </a:p>
          <a:p>
            <a:pPr defTabSz="914400" fontAlgn="auto">
              <a:spcBef>
                <a:spcPts val="0"/>
              </a:spcBef>
              <a:buClrTx/>
              <a:defRPr/>
            </a:pPr>
            <a:endParaRPr kumimoji="0" lang="en-US" sz="1400" b="1" i="0" u="none" strike="noStrike" kern="1200" cap="none" spc="0" normalizeH="0" baseline="0" noProof="0">
              <a:ln>
                <a:noFill/>
              </a:ln>
              <a:effectLst/>
              <a:uLnTx/>
              <a:uFillTx/>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p:txBody>
      </p:sp>
      <p:sp>
        <p:nvSpPr>
          <p:cNvPr id="4" name="Content Placeholder 2">
            <a:extLst>
              <a:ext uri="{FF2B5EF4-FFF2-40B4-BE49-F238E27FC236}">
                <a16:creationId xmlns:a16="http://schemas.microsoft.com/office/drawing/2014/main" id="{D8E5D10F-0178-7F61-A9E9-E57A5840CD07}"/>
              </a:ext>
            </a:extLst>
          </p:cNvPr>
          <p:cNvSpPr txBox="1">
            <a:spLocks/>
          </p:cNvSpPr>
          <p:nvPr/>
        </p:nvSpPr>
        <p:spPr bwMode="gray">
          <a:xfrm>
            <a:off x="4605049" y="1159619"/>
            <a:ext cx="7051564" cy="3977640"/>
          </a:xfrm>
          <a:prstGeom prst="rect">
            <a:avLst/>
          </a:prstGeom>
        </p:spPr>
        <p:txBody>
          <a:bodyPr vert="horz" lIns="0" tIns="0" rIns="0" bIns="0" rtlCol="0">
            <a:noAutofit/>
          </a:bodyPr>
          <a:lstStyle>
            <a:lvl1pPr marL="0" indent="0" algn="l" defTabSz="457200" rtl="0" eaLnBrk="1" fontAlgn="ctr" latinLnBrk="0" hangingPunct="1">
              <a:lnSpc>
                <a:spcPct val="100000"/>
              </a:lnSpc>
              <a:spcBef>
                <a:spcPts val="1800"/>
              </a:spcBef>
              <a:buClr>
                <a:schemeClr val="tx1"/>
              </a:buClr>
              <a:buFont typeface="Arial"/>
              <a:buNone/>
              <a:defRPr sz="1800" b="1" kern="1200" cap="none" baseline="0">
                <a:solidFill>
                  <a:schemeClr val="tx2"/>
                </a:solidFill>
                <a:latin typeface="+mn-lt"/>
                <a:ea typeface="+mn-ea"/>
                <a:cs typeface="+mn-cs"/>
              </a:defRPr>
            </a:lvl1pPr>
            <a:lvl2pPr marL="0" indent="0" algn="l" defTabSz="457200" rtl="0" eaLnBrk="1" fontAlgn="ctr" latinLnBrk="0" hangingPunct="1">
              <a:lnSpc>
                <a:spcPct val="100000"/>
              </a:lnSpc>
              <a:spcBef>
                <a:spcPts val="1200"/>
              </a:spcBef>
              <a:buClr>
                <a:schemeClr val="tx1"/>
              </a:buClr>
              <a:buFont typeface="Arial"/>
              <a:buNone/>
              <a:defRPr sz="1300" kern="1200" baseline="0">
                <a:solidFill>
                  <a:schemeClr val="tx2"/>
                </a:solidFill>
                <a:latin typeface="+mn-lt"/>
                <a:ea typeface="+mn-ea"/>
                <a:cs typeface="+mn-cs"/>
              </a:defRPr>
            </a:lvl2pPr>
            <a:lvl3pPr marL="171450" indent="-171450" algn="l" defTabSz="457200" rtl="0" eaLnBrk="1" fontAlgn="ctr" latinLnBrk="0" hangingPunct="1">
              <a:lnSpc>
                <a:spcPct val="100000"/>
              </a:lnSpc>
              <a:spcBef>
                <a:spcPts val="1200"/>
              </a:spcBef>
              <a:buClr>
                <a:schemeClr val="tx1"/>
              </a:buClr>
              <a:buFont typeface="Arial" panose="020B0604020202020204" pitchFamily="34" charset="0"/>
              <a:buChar char="•"/>
              <a:defRPr sz="1300" kern="1200" baseline="0">
                <a:solidFill>
                  <a:schemeClr val="tx2"/>
                </a:solidFill>
                <a:latin typeface="+mn-lt"/>
                <a:ea typeface="+mn-ea"/>
                <a:cs typeface="+mn-cs"/>
              </a:defRPr>
            </a:lvl3pPr>
            <a:lvl4pPr marL="342900" indent="-171450" algn="l" defTabSz="457200" rtl="0" eaLnBrk="1" fontAlgn="ctr" latinLnBrk="0" hangingPunct="1">
              <a:lnSpc>
                <a:spcPct val="100000"/>
              </a:lnSpc>
              <a:spcBef>
                <a:spcPts val="600"/>
              </a:spcBef>
              <a:buClr>
                <a:schemeClr val="tx1"/>
              </a:buClr>
              <a:buFont typeface="Arial" panose="020B0604020202020204" pitchFamily="34" charset="0"/>
              <a:buChar char="–"/>
              <a:defRPr sz="1300" kern="1200" baseline="0">
                <a:solidFill>
                  <a:schemeClr val="tx2"/>
                </a:solidFill>
                <a:latin typeface="+mn-lt"/>
                <a:ea typeface="+mn-ea"/>
                <a:cs typeface="+mn-cs"/>
              </a:defRPr>
            </a:lvl4pPr>
            <a:lvl5pPr marL="515938" indent="-173038" algn="l" defTabSz="457200" rtl="0" eaLnBrk="1" fontAlgn="ctr" latinLnBrk="0" hangingPunct="1">
              <a:lnSpc>
                <a:spcPct val="100000"/>
              </a:lnSpc>
              <a:spcBef>
                <a:spcPts val="600"/>
              </a:spcBef>
              <a:buClr>
                <a:schemeClr val="tx1"/>
              </a:buClr>
              <a:buFont typeface="Arial" panose="020B0604020202020204" pitchFamily="34" charset="0"/>
              <a:buChar char="•"/>
              <a:defRPr sz="1300" kern="1200" baseline="0">
                <a:solidFill>
                  <a:schemeClr val="tx2"/>
                </a:solidFill>
                <a:latin typeface="+mn-lt"/>
                <a:ea typeface="+mn-ea"/>
                <a:cs typeface="+mn-cs"/>
              </a:defRPr>
            </a:lvl5pPr>
            <a:lvl6pPr marL="687388" indent="-171450" algn="l" defTabSz="457200" rtl="0" eaLnBrk="1" fontAlgn="ctr" latinLnBrk="0" hangingPunct="1">
              <a:lnSpc>
                <a:spcPct val="100000"/>
              </a:lnSpc>
              <a:spcBef>
                <a:spcPts val="600"/>
              </a:spcBef>
              <a:buClr>
                <a:schemeClr val="tx1"/>
              </a:buClr>
              <a:buFont typeface="Arial" panose="020B0604020202020204" pitchFamily="34" charset="0"/>
              <a:buChar char="–"/>
              <a:defRPr sz="1300" kern="1200" baseline="0">
                <a:solidFill>
                  <a:schemeClr val="tx2"/>
                </a:solidFill>
                <a:latin typeface="+mn-lt"/>
                <a:ea typeface="+mn-ea"/>
                <a:cs typeface="+mn-cs"/>
              </a:defRPr>
            </a:lvl6pPr>
            <a:lvl7pPr marL="860425" indent="-173038"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031875"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8pPr>
            <a:lvl9pPr marL="1203325"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9pPr>
          </a:lstStyle>
          <a:p>
            <a:r>
              <a:rPr lang="en-US" sz="1400"/>
              <a:t>Observations</a:t>
            </a:r>
          </a:p>
          <a:p>
            <a:pPr marR="0" lvl="0" algn="l" defTabSz="914400" rtl="0" eaLnBrk="1" fontAlgn="auto" latinLnBrk="0" hangingPunct="1">
              <a:lnSpc>
                <a:spcPct val="100000"/>
              </a:lnSpc>
              <a:spcBef>
                <a:spcPts val="0"/>
              </a:spcBef>
              <a:spcAft>
                <a:spcPts val="0"/>
              </a:spcAft>
              <a:buClrTx/>
              <a:buSzTx/>
              <a:tabLst/>
              <a:defRPr/>
            </a:pPr>
            <a:endParaRPr lang="en-US" sz="500" b="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effectLst/>
                <a:uLnTx/>
                <a:uFillTx/>
                <a:ea typeface="+mn-ea"/>
                <a:cs typeface="+mn-cs"/>
              </a:rPr>
              <a:t>Optimized training strategy achieves over </a:t>
            </a:r>
            <a:r>
              <a:rPr lang="en-US" sz="1200"/>
              <a:t>2</a:t>
            </a:r>
            <a:r>
              <a:rPr kumimoji="0" lang="en-US" sz="1200" i="0" u="none" strike="noStrike" kern="1200" cap="none" spc="0" normalizeH="0" baseline="0" noProof="0">
                <a:ln>
                  <a:noFill/>
                </a:ln>
                <a:effectLst/>
                <a:uLnTx/>
                <a:uFillTx/>
                <a:ea typeface="+mn-ea"/>
                <a:cs typeface="+mn-cs"/>
              </a:rPr>
              <a:t>x</a:t>
            </a:r>
            <a:r>
              <a:rPr kumimoji="0" lang="en-US" sz="1200" b="0" i="0" u="none" strike="noStrike" kern="1200" cap="none" spc="0" normalizeH="0" baseline="0" noProof="0">
                <a:ln>
                  <a:noFill/>
                </a:ln>
                <a:effectLst/>
                <a:uLnTx/>
                <a:uFillTx/>
                <a:ea typeface="+mn-ea"/>
                <a:cs typeface="+mn-cs"/>
              </a:rPr>
              <a:t> improvement in prediction performance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t>Flash attention reduced training cost by </a:t>
            </a:r>
            <a:r>
              <a:rPr lang="en-US" sz="1200"/>
              <a:t>34%</a:t>
            </a:r>
            <a:r>
              <a:rPr lang="en-US" sz="1200" b="0"/>
              <a:t> and reduced GPU memory usage by </a:t>
            </a:r>
            <a:r>
              <a:rPr lang="en-US" sz="1200"/>
              <a:t>61%</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t>MOE matched dense model performance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Notice</a:t>
            </a:r>
            <a:r>
              <a:rPr lang="en-US" sz="1200" b="0"/>
              <a:t>: intrinsic metrics captures only internal metrics for training quality and outcomes on predicting next day’s labels; </a:t>
            </a:r>
            <a:r>
              <a:rPr lang="en-US" sz="1200"/>
              <a:t>downstream evaluation </a:t>
            </a:r>
            <a:r>
              <a:rPr lang="en-US" sz="1200" b="0"/>
              <a:t>provides definite and business-driven measure of the embedding quality. </a:t>
            </a:r>
          </a:p>
          <a:p>
            <a:pPr marR="0" lvl="0" algn="l" defTabSz="914400" rtl="0" eaLnBrk="1" fontAlgn="auto" latinLnBrk="0" hangingPunct="1">
              <a:lnSpc>
                <a:spcPct val="100000"/>
              </a:lnSpc>
              <a:spcBef>
                <a:spcPts val="0"/>
              </a:spcBef>
              <a:spcAft>
                <a:spcPts val="0"/>
              </a:spcAft>
              <a:buClrTx/>
              <a:buSzTx/>
              <a:tabLst/>
              <a:defRPr/>
            </a:pPr>
            <a:endParaRPr lang="en-US" sz="1400"/>
          </a:p>
          <a:p>
            <a:endParaRPr lang="en-US" sz="1400"/>
          </a:p>
        </p:txBody>
      </p:sp>
      <p:graphicFrame>
        <p:nvGraphicFramePr>
          <p:cNvPr id="5" name="Table 4">
            <a:extLst>
              <a:ext uri="{FF2B5EF4-FFF2-40B4-BE49-F238E27FC236}">
                <a16:creationId xmlns:a16="http://schemas.microsoft.com/office/drawing/2014/main" id="{FF2629D4-22E6-326E-4BDD-FC1771469453}"/>
              </a:ext>
            </a:extLst>
          </p:cNvPr>
          <p:cNvGraphicFramePr>
            <a:graphicFrameLocks noGrp="1"/>
          </p:cNvGraphicFramePr>
          <p:nvPr/>
        </p:nvGraphicFramePr>
        <p:xfrm>
          <a:off x="4495198" y="2765034"/>
          <a:ext cx="7308026" cy="2330604"/>
        </p:xfrm>
        <a:graphic>
          <a:graphicData uri="http://schemas.openxmlformats.org/drawingml/2006/table">
            <a:tbl>
              <a:tblPr firstRow="1" bandRow="1">
                <a:tableStyleId>{2D5ABB26-0587-4C30-8999-92F81FD0307C}</a:tableStyleId>
              </a:tblPr>
              <a:tblGrid>
                <a:gridCol w="1828533">
                  <a:extLst>
                    <a:ext uri="{9D8B030D-6E8A-4147-A177-3AD203B41FA5}">
                      <a16:colId xmlns:a16="http://schemas.microsoft.com/office/drawing/2014/main" val="547297870"/>
                    </a:ext>
                  </a:extLst>
                </a:gridCol>
                <a:gridCol w="730933">
                  <a:extLst>
                    <a:ext uri="{9D8B030D-6E8A-4147-A177-3AD203B41FA5}">
                      <a16:colId xmlns:a16="http://schemas.microsoft.com/office/drawing/2014/main" val="1294058755"/>
                    </a:ext>
                  </a:extLst>
                </a:gridCol>
                <a:gridCol w="898293">
                  <a:extLst>
                    <a:ext uri="{9D8B030D-6E8A-4147-A177-3AD203B41FA5}">
                      <a16:colId xmlns:a16="http://schemas.microsoft.com/office/drawing/2014/main" val="3214445868"/>
                    </a:ext>
                  </a:extLst>
                </a:gridCol>
                <a:gridCol w="1044987">
                  <a:extLst>
                    <a:ext uri="{9D8B030D-6E8A-4147-A177-3AD203B41FA5}">
                      <a16:colId xmlns:a16="http://schemas.microsoft.com/office/drawing/2014/main" val="3010508341"/>
                    </a:ext>
                  </a:extLst>
                </a:gridCol>
                <a:gridCol w="659240">
                  <a:extLst>
                    <a:ext uri="{9D8B030D-6E8A-4147-A177-3AD203B41FA5}">
                      <a16:colId xmlns:a16="http://schemas.microsoft.com/office/drawing/2014/main" val="193391656"/>
                    </a:ext>
                  </a:extLst>
                </a:gridCol>
                <a:gridCol w="979714">
                  <a:extLst>
                    <a:ext uri="{9D8B030D-6E8A-4147-A177-3AD203B41FA5}">
                      <a16:colId xmlns:a16="http://schemas.microsoft.com/office/drawing/2014/main" val="1256990712"/>
                    </a:ext>
                  </a:extLst>
                </a:gridCol>
                <a:gridCol w="1166326">
                  <a:extLst>
                    <a:ext uri="{9D8B030D-6E8A-4147-A177-3AD203B41FA5}">
                      <a16:colId xmlns:a16="http://schemas.microsoft.com/office/drawing/2014/main" val="4042774131"/>
                    </a:ext>
                  </a:extLst>
                </a:gridCol>
              </a:tblGrid>
              <a:tr h="448071">
                <a:tc>
                  <a:txBody>
                    <a:bodyPr/>
                    <a:lstStyle/>
                    <a:p>
                      <a:pPr algn="r"/>
                      <a:r>
                        <a:rPr lang="en-US" sz="1200" b="1">
                          <a:solidFill>
                            <a:schemeClr val="tx2"/>
                          </a:solidFill>
                          <a:latin typeface="CVS Health Sans" panose="020B0504020202020204" pitchFamily="34" charset="0"/>
                        </a:rPr>
                        <a:t>Ablation config.</a:t>
                      </a:r>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solidFill>
                            <a:schemeClr val="tx2"/>
                          </a:solidFill>
                          <a:latin typeface="CVS Health Sans" panose="020B0504020202020204" pitchFamily="34" charset="0"/>
                        </a:rPr>
                        <a:t>Recall @10</a:t>
                      </a:r>
                      <a:r>
                        <a:rPr lang="en-US" sz="1200" b="1" baseline="30000">
                          <a:solidFill>
                            <a:schemeClr val="tx2"/>
                          </a:solidFill>
                          <a:latin typeface="CVS Health Sans" panose="020B0504020202020204" pitchFamily="34" charset="0"/>
                        </a:rPr>
                        <a:t>1</a:t>
                      </a:r>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solidFill>
                            <a:schemeClr val="tx2"/>
                          </a:solidFill>
                          <a:latin typeface="CVS Health Sans" panose="020B0504020202020204" pitchFamily="34" charset="0"/>
                        </a:rPr>
                        <a:t>Precision @10</a:t>
                      </a:r>
                      <a:r>
                        <a:rPr lang="en-US" sz="1200" b="1" baseline="30000">
                          <a:solidFill>
                            <a:schemeClr val="tx2"/>
                          </a:solidFill>
                          <a:latin typeface="CVS Health Sans" panose="020B0504020202020204" pitchFamily="34" charset="0"/>
                        </a:rPr>
                        <a:t>2</a:t>
                      </a:r>
                      <a:endParaRPr lang="en-US" sz="1200" b="1">
                        <a:solidFill>
                          <a:schemeClr val="tx2"/>
                        </a:solidFill>
                        <a:latin typeface="CVS Health Sans" panose="020B0504020202020204" pitchFamily="34" charset="0"/>
                      </a:endParaRPr>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solidFill>
                            <a:schemeClr val="tx2"/>
                          </a:solidFill>
                          <a:latin typeface="CVS Health Sans" panose="020B0504020202020204" pitchFamily="34" charset="0"/>
                        </a:rPr>
                        <a:t>Micro Recall@10</a:t>
                      </a:r>
                      <a:r>
                        <a:rPr lang="en-US" sz="1200" b="1" baseline="30000">
                          <a:solidFill>
                            <a:schemeClr val="tx2"/>
                          </a:solidFill>
                          <a:latin typeface="CVS Health Sans" panose="020B0504020202020204" pitchFamily="34" charset="0"/>
                        </a:rPr>
                        <a:t>3</a:t>
                      </a:r>
                      <a:endParaRPr lang="en-US" sz="1200" b="1">
                        <a:solidFill>
                          <a:schemeClr val="tx2"/>
                        </a:solidFill>
                        <a:latin typeface="CVS Health Sans" panose="020B0504020202020204" pitchFamily="34" charset="0"/>
                      </a:endParaRPr>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solidFill>
                            <a:schemeClr val="tx2"/>
                          </a:solidFill>
                          <a:latin typeface="CVS Health Sans" panose="020B0504020202020204" pitchFamily="34" charset="0"/>
                        </a:rPr>
                        <a:t>NDCG @10</a:t>
                      </a:r>
                      <a:r>
                        <a:rPr lang="en-US" sz="1200" b="1" baseline="30000">
                          <a:solidFill>
                            <a:schemeClr val="tx2"/>
                          </a:solidFill>
                          <a:latin typeface="CVS Health Sans" panose="020B0504020202020204" pitchFamily="34" charset="0"/>
                        </a:rPr>
                        <a:t>4</a:t>
                      </a:r>
                      <a:endParaRPr lang="en-US" sz="1200" b="1">
                        <a:solidFill>
                          <a:schemeClr val="tx2"/>
                        </a:solidFill>
                        <a:latin typeface="CVS Health Sans" panose="020B0504020202020204" pitchFamily="34" charset="0"/>
                      </a:endParaRPr>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1200" b="1">
                          <a:solidFill>
                            <a:schemeClr val="tx2"/>
                          </a:solidFill>
                          <a:latin typeface="CVS Health Sans" panose="020B0504020202020204" pitchFamily="34" charset="0"/>
                        </a:rPr>
                        <a:t>Training time (hrs)</a:t>
                      </a:r>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solidFill>
                            <a:schemeClr val="tx2"/>
                          </a:solidFill>
                          <a:latin typeface="CVS Health Sans" panose="020B0504020202020204" pitchFamily="34" charset="0"/>
                        </a:rPr>
                        <a:t>GPU peak memory (GB)</a:t>
                      </a:r>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7656408"/>
                  </a:ext>
                </a:extLst>
              </a:tr>
              <a:tr h="362190">
                <a:tc>
                  <a:txBody>
                    <a:bodyPr/>
                    <a:lstStyle/>
                    <a:p>
                      <a:pPr algn="r"/>
                      <a:r>
                        <a:rPr lang="en-US" sz="1200">
                          <a:solidFill>
                            <a:schemeClr val="tx2"/>
                          </a:solidFill>
                          <a:latin typeface="CVS Health Sans" panose="020B0504020202020204" pitchFamily="34" charset="0"/>
                        </a:rPr>
                        <a:t>Random reference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0.007</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0.001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0.002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0.001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NA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NA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627554"/>
                  </a:ext>
                </a:extLst>
              </a:tr>
              <a:tr h="448071">
                <a:tc>
                  <a:txBody>
                    <a:bodyPr/>
                    <a:lstStyle/>
                    <a:p>
                      <a:pPr algn="r"/>
                      <a:r>
                        <a:rPr lang="en-US" sz="1200">
                          <a:solidFill>
                            <a:schemeClr val="tx2"/>
                          </a:solidFill>
                          <a:latin typeface="CVS Health Sans" panose="020B0504020202020204" pitchFamily="34" charset="0"/>
                        </a:rPr>
                        <a:t>Legacy model (baseline)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0.579</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0.120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0.234</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0.169</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6.15</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457200" rtl="0" eaLnBrk="1" fontAlgn="ctr" latinLnBrk="0" hangingPunct="1">
                        <a:lnSpc>
                          <a:spcPct val="100000"/>
                        </a:lnSpc>
                        <a:spcBef>
                          <a:spcPts val="0"/>
                        </a:spcBef>
                        <a:spcAft>
                          <a:spcPts val="0"/>
                        </a:spcAft>
                        <a:buClrTx/>
                        <a:buSzTx/>
                        <a:buFontTx/>
                        <a:buNone/>
                        <a:tabLst/>
                        <a:defRPr/>
                      </a:pPr>
                      <a:r>
                        <a:rPr lang="en-US" sz="1200">
                          <a:solidFill>
                            <a:schemeClr val="tx2"/>
                          </a:solidFill>
                          <a:latin typeface="CVS Health Sans" panose="020B0504020202020204" pitchFamily="34" charset="0"/>
                        </a:rPr>
                        <a:t>28.29</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2687018"/>
                  </a:ext>
                </a:extLst>
              </a:tr>
              <a:tr h="351338">
                <a:tc>
                  <a:txBody>
                    <a:bodyPr/>
                    <a:lstStyle/>
                    <a:p>
                      <a:pPr algn="r"/>
                      <a:r>
                        <a:rPr lang="en-US" sz="1200">
                          <a:solidFill>
                            <a:schemeClr val="tx2"/>
                          </a:solidFill>
                          <a:latin typeface="CVS Health Sans" panose="020B0504020202020204" pitchFamily="34" charset="0"/>
                        </a:rPr>
                        <a:t>Optimized model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0.825</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0.235</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solidFill>
                            <a:schemeClr val="tx2"/>
                          </a:solidFill>
                          <a:latin typeface="CVS Health Sans" panose="020B0504020202020204" pitchFamily="34" charset="0"/>
                        </a:rPr>
                        <a:t>0.478</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solidFill>
                            <a:schemeClr val="tx2"/>
                          </a:solidFill>
                          <a:latin typeface="CVS Health Sans" panose="020B0504020202020204" pitchFamily="34" charset="0"/>
                        </a:rPr>
                        <a:t>0.401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457200" rtl="0" eaLnBrk="1" fontAlgn="ctr" latinLnBrk="0" hangingPunct="1">
                        <a:lnSpc>
                          <a:spcPct val="100000"/>
                        </a:lnSpc>
                        <a:spcBef>
                          <a:spcPts val="0"/>
                        </a:spcBef>
                        <a:spcAft>
                          <a:spcPts val="0"/>
                        </a:spcAft>
                        <a:buClrTx/>
                        <a:buSzTx/>
                        <a:buFontTx/>
                        <a:buNone/>
                        <a:tabLst/>
                        <a:defRPr/>
                      </a:pPr>
                      <a:r>
                        <a:rPr lang="en-US" sz="1200">
                          <a:solidFill>
                            <a:schemeClr val="tx2"/>
                          </a:solidFill>
                          <a:latin typeface="CVS Health Sans" panose="020B0504020202020204" pitchFamily="34" charset="0"/>
                        </a:rPr>
                        <a:t>9.65</a:t>
                      </a:r>
                      <a:r>
                        <a:rPr kumimoji="0" lang="en-US" sz="1200" b="1" i="0" u="none" strike="noStrike" kern="1500" cap="none" spc="0" normalizeH="0" baseline="30000" noProof="0">
                          <a:ln>
                            <a:noFill/>
                          </a:ln>
                          <a:solidFill>
                            <a:srgbClr val="3F3F3F"/>
                          </a:solidFill>
                          <a:effectLst/>
                          <a:uLnTx/>
                          <a:uFillTx/>
                          <a:latin typeface="CVS Health Sans" panose="020B0504020202020204" pitchFamily="34" charset="0"/>
                          <a:ea typeface="+mn-ea"/>
                          <a:cs typeface="+mn-cs"/>
                        </a:rPr>
                        <a:t>5</a:t>
                      </a:r>
                      <a:endParaRPr lang="en-US" sz="1200">
                        <a:solidFill>
                          <a:schemeClr val="tx2"/>
                        </a:solidFill>
                        <a:latin typeface="CVS Health Sans" panose="020B05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20.58</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5023583"/>
                  </a:ext>
                </a:extLst>
              </a:tr>
              <a:tr h="351338">
                <a:tc>
                  <a:txBody>
                    <a:bodyPr/>
                    <a:lstStyle/>
                    <a:p>
                      <a:pPr algn="r"/>
                      <a:r>
                        <a:rPr lang="en-US" sz="1200">
                          <a:solidFill>
                            <a:schemeClr val="tx2"/>
                          </a:solidFill>
                          <a:latin typeface="CVS Health Sans" panose="020B0504020202020204" pitchFamily="34" charset="0"/>
                        </a:rPr>
                        <a:t>Optimized + FA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solidFill>
                            <a:schemeClr val="tx2"/>
                          </a:solidFill>
                          <a:latin typeface="CVS Health Sans" panose="020B0504020202020204" pitchFamily="34" charset="0"/>
                        </a:rPr>
                        <a:t>0.828</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solidFill>
                            <a:schemeClr val="tx2"/>
                          </a:solidFill>
                          <a:latin typeface="CVS Health Sans" panose="020B0504020202020204" pitchFamily="34" charset="0"/>
                        </a:rPr>
                        <a:t>0.237</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0.462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0.398</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solidFill>
                            <a:schemeClr val="tx2"/>
                          </a:solidFill>
                          <a:latin typeface="CVS Health Sans" panose="020B0504020202020204" pitchFamily="34" charset="0"/>
                        </a:rPr>
                        <a:t>4.09</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457200" rtl="0" eaLnBrk="1" fontAlgn="ctr" latinLnBrk="0" hangingPunct="1">
                        <a:lnSpc>
                          <a:spcPct val="100000"/>
                        </a:lnSpc>
                        <a:spcBef>
                          <a:spcPts val="0"/>
                        </a:spcBef>
                        <a:spcAft>
                          <a:spcPts val="0"/>
                        </a:spcAft>
                        <a:buClrTx/>
                        <a:buSzTx/>
                        <a:buFontTx/>
                        <a:buNone/>
                        <a:tabLst/>
                        <a:defRPr/>
                      </a:pPr>
                      <a:r>
                        <a:rPr lang="en-US" sz="1200" b="1">
                          <a:solidFill>
                            <a:schemeClr val="tx2"/>
                          </a:solidFill>
                          <a:latin typeface="CVS Health Sans" panose="020B0504020202020204" pitchFamily="34" charset="0"/>
                        </a:rPr>
                        <a:t>11.13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0342136"/>
                  </a:ext>
                </a:extLst>
              </a:tr>
              <a:tr h="351338">
                <a:tc>
                  <a:txBody>
                    <a:bodyPr/>
                    <a:lstStyle/>
                    <a:p>
                      <a:pPr algn="r"/>
                      <a:r>
                        <a:rPr lang="en-US" sz="1200">
                          <a:solidFill>
                            <a:schemeClr val="tx2"/>
                          </a:solidFill>
                          <a:latin typeface="CVS Health Sans" panose="020B0504020202020204" pitchFamily="34" charset="0"/>
                        </a:rPr>
                        <a:t>Optimized + FA + MOE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0.827</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0.237</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0.461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0.399</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solidFill>
                            <a:schemeClr val="tx2"/>
                          </a:solidFill>
                          <a:latin typeface="CVS Health Sans" panose="020B0504020202020204" pitchFamily="34" charset="0"/>
                        </a:rPr>
                        <a:t>4.74</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457200" rtl="0" eaLnBrk="1" fontAlgn="ctr" latinLnBrk="0" hangingPunct="1">
                        <a:lnSpc>
                          <a:spcPct val="100000"/>
                        </a:lnSpc>
                        <a:spcBef>
                          <a:spcPts val="0"/>
                        </a:spcBef>
                        <a:spcAft>
                          <a:spcPts val="0"/>
                        </a:spcAft>
                        <a:buClrTx/>
                        <a:buSzTx/>
                        <a:buFontTx/>
                        <a:buNone/>
                        <a:tabLst/>
                        <a:defRPr/>
                      </a:pPr>
                      <a:r>
                        <a:rPr lang="en-US" sz="1200">
                          <a:solidFill>
                            <a:schemeClr val="tx2"/>
                          </a:solidFill>
                          <a:latin typeface="CVS Health Sans" panose="020B0504020202020204" pitchFamily="34" charset="0"/>
                        </a:rPr>
                        <a:t>13.39</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6564706"/>
                  </a:ext>
                </a:extLst>
              </a:tr>
            </a:tbl>
          </a:graphicData>
        </a:graphic>
      </p:graphicFrame>
      <p:sp>
        <p:nvSpPr>
          <p:cNvPr id="7" name="TextBox 6">
            <a:extLst>
              <a:ext uri="{FF2B5EF4-FFF2-40B4-BE49-F238E27FC236}">
                <a16:creationId xmlns:a16="http://schemas.microsoft.com/office/drawing/2014/main" id="{6DD10993-895F-18A0-B35A-28D77C5D3665}"/>
              </a:ext>
            </a:extLst>
          </p:cNvPr>
          <p:cNvSpPr txBox="1"/>
          <p:nvPr/>
        </p:nvSpPr>
        <p:spPr>
          <a:xfrm>
            <a:off x="4495198" y="5238437"/>
            <a:ext cx="7271265" cy="1223412"/>
          </a:xfrm>
          <a:prstGeom prst="rect">
            <a:avLst/>
          </a:prstGeom>
          <a:noFill/>
        </p:spPr>
        <p:txBody>
          <a:bodyPr wrap="square">
            <a:spAutoFit/>
          </a:bodyPr>
          <a:lstStyle/>
          <a:p>
            <a:r>
              <a:rPr lang="en-US" sz="1050">
                <a:solidFill>
                  <a:schemeClr val="tx2"/>
                </a:solidFill>
                <a:latin typeface="CVS Health Sans" panose="020B0504020202020204" pitchFamily="34" charset="0"/>
              </a:rPr>
              <a:t>1. Recall@10: fraction of members have at least 1 correct code in top-10 predictions</a:t>
            </a:r>
          </a:p>
          <a:p>
            <a:r>
              <a:rPr lang="en-US" sz="1050">
                <a:solidFill>
                  <a:schemeClr val="tx2"/>
                </a:solidFill>
                <a:latin typeface="CVS Health Sans" panose="020B0504020202020204" pitchFamily="34" charset="0"/>
              </a:rPr>
              <a:t>2. Precision@10: fraction of correct predictions at top-10 predictions</a:t>
            </a:r>
          </a:p>
          <a:p>
            <a:r>
              <a:rPr lang="en-US" sz="1050">
                <a:solidFill>
                  <a:schemeClr val="tx2"/>
                </a:solidFill>
                <a:latin typeface="CVS Health Sans" panose="020B0504020202020204" pitchFamily="34" charset="0"/>
              </a:rPr>
              <a:t>3. Micro-recall@10: fraction of true codes found in top-10 predictions</a:t>
            </a:r>
          </a:p>
          <a:p>
            <a:r>
              <a:rPr lang="en-US" sz="1050">
                <a:solidFill>
                  <a:schemeClr val="tx2"/>
                </a:solidFill>
                <a:latin typeface="CVS Health Sans" panose="020B0504020202020204" pitchFamily="34" charset="0"/>
              </a:rPr>
              <a:t>4. NDCG@10 (normalized discounted cumulative gain at top-10), indicates ranking quality, where 1 is perfect and 0 is none is relevant at top10 predictions</a:t>
            </a:r>
          </a:p>
          <a:p>
            <a:r>
              <a:rPr lang="en-US" sz="1050">
                <a:solidFill>
                  <a:schemeClr val="tx2"/>
                </a:solidFill>
                <a:latin typeface="CVS Health Sans" panose="020B0504020202020204" pitchFamily="34" charset="0"/>
              </a:rPr>
              <a:t>5. Due to the constraints of GPU memory and use of data parallelism, this experiment used 16 batch size instead of 32. The training time, given more advanced GPU, should be less than 6 hours</a:t>
            </a:r>
            <a:endParaRPr lang="en-US" sz="1050">
              <a:solidFill>
                <a:schemeClr val="tx2"/>
              </a:solidFill>
            </a:endParaRPr>
          </a:p>
        </p:txBody>
      </p:sp>
      <p:sp>
        <p:nvSpPr>
          <p:cNvPr id="6" name="TextBox 5">
            <a:extLst>
              <a:ext uri="{FF2B5EF4-FFF2-40B4-BE49-F238E27FC236}">
                <a16:creationId xmlns:a16="http://schemas.microsoft.com/office/drawing/2014/main" id="{E76DA2F1-0E03-CE9D-72CF-ED5D4FEB14A6}"/>
              </a:ext>
            </a:extLst>
          </p:cNvPr>
          <p:cNvSpPr txBox="1"/>
          <p:nvPr/>
        </p:nvSpPr>
        <p:spPr>
          <a:xfrm>
            <a:off x="5325942" y="6327649"/>
            <a:ext cx="5216036" cy="276999"/>
          </a:xfrm>
          <a:prstGeom prst="rect">
            <a:avLst/>
          </a:prstGeom>
          <a:noFill/>
        </p:spPr>
        <p:txBody>
          <a:bodyPr wrap="square">
            <a:spAutoFit/>
          </a:bodyPr>
          <a:lstStyle/>
          <a:p>
            <a:r>
              <a:rPr lang="en-US" sz="1200" i="1">
                <a:solidFill>
                  <a:schemeClr val="bg1">
                    <a:lumMod val="65000"/>
                  </a:schemeClr>
                </a:solidFill>
                <a:latin typeface="CVS Health Sans" panose="020B0504020202020204" pitchFamily="34" charset="0"/>
              </a:rPr>
              <a:t>INTERNAL USE</a:t>
            </a:r>
            <a:r>
              <a:rPr lang="en-US" sz="1200" b="0" i="1">
                <a:solidFill>
                  <a:schemeClr val="bg1">
                    <a:lumMod val="65000"/>
                  </a:schemeClr>
                </a:solidFill>
                <a:effectLst/>
                <a:latin typeface="CVS Health Sans" panose="020B0504020202020204" pitchFamily="34" charset="0"/>
              </a:rPr>
              <a:t> AND NOT FOR DISTRIBUTION OR RECIRCULATION</a:t>
            </a:r>
            <a:endParaRPr lang="en-US" sz="1200">
              <a:solidFill>
                <a:schemeClr val="bg1">
                  <a:lumMod val="65000"/>
                </a:schemeClr>
              </a:solidFill>
              <a:latin typeface="CVS Health Sans" panose="020B0504020202020204" pitchFamily="34" charset="0"/>
            </a:endParaRPr>
          </a:p>
        </p:txBody>
      </p:sp>
    </p:spTree>
    <p:extLst>
      <p:ext uri="{BB962C8B-B14F-4D97-AF65-F5344CB8AC3E}">
        <p14:creationId xmlns:p14="http://schemas.microsoft.com/office/powerpoint/2010/main" val="810313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169A2-B6C2-F0A9-E534-957D4974D58D}"/>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D8FF88D8-BADE-FCC5-72C4-433AEA14AEF7}"/>
              </a:ext>
            </a:extLst>
          </p:cNvPr>
          <p:cNvGraphicFramePr>
            <a:graphicFrameLocks noChangeAspect="1"/>
          </p:cNvGraphicFramePr>
          <p:nvPr>
            <p:custDataLst>
              <p:tags r:id="rId1"/>
            </p:custData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10" name="Object 9" hidden="1">
                        <a:extLst>
                          <a:ext uri="{FF2B5EF4-FFF2-40B4-BE49-F238E27FC236}">
                            <a16:creationId xmlns:a16="http://schemas.microsoft.com/office/drawing/2014/main" id="{D8FF88D8-BADE-FCC5-72C4-433AEA14AEF7}"/>
                          </a:ext>
                        </a:extLst>
                      </p:cNvPr>
                      <p:cNvPicPr/>
                      <p:nvPr/>
                    </p:nvPicPr>
                    <p:blipFill>
                      <a:blip r:embed="rId4"/>
                      <a:stretch>
                        <a:fillRect/>
                      </a:stretch>
                    </p:blipFill>
                    <p:spPr>
                      <a:xfrm>
                        <a:off x="3176" y="1588"/>
                        <a:ext cx="1588" cy="1588"/>
                      </a:xfrm>
                      <a:prstGeom prst="rect">
                        <a:avLst/>
                      </a:prstGeom>
                    </p:spPr>
                  </p:pic>
                </p:oleObj>
              </mc:Fallback>
            </mc:AlternateContent>
          </a:graphicData>
        </a:graphic>
      </p:graphicFrame>
      <p:grpSp>
        <p:nvGrpSpPr>
          <p:cNvPr id="3" name="Group 2">
            <a:extLst>
              <a:ext uri="{FF2B5EF4-FFF2-40B4-BE49-F238E27FC236}">
                <a16:creationId xmlns:a16="http://schemas.microsoft.com/office/drawing/2014/main" id="{BC7133A6-9F89-CE07-E7FE-F7FAC4CCAD97}"/>
              </a:ext>
              <a:ext uri="{C183D7F6-B498-43B3-948B-1728B52AA6E4}">
                <adec:decorative xmlns:adec="http://schemas.microsoft.com/office/drawing/2017/decorative" val="1"/>
              </a:ext>
            </a:extLst>
          </p:cNvPr>
          <p:cNvGrpSpPr/>
          <p:nvPr/>
        </p:nvGrpSpPr>
        <p:grpSpPr>
          <a:xfrm>
            <a:off x="5899152" y="2649212"/>
            <a:ext cx="393699" cy="1559576"/>
            <a:chOff x="5897563" y="2649212"/>
            <a:chExt cx="393699" cy="1559576"/>
          </a:xfrm>
        </p:grpSpPr>
        <p:cxnSp>
          <p:nvCxnSpPr>
            <p:cNvPr id="4" name="Straight Connector 3">
              <a:extLst>
                <a:ext uri="{FF2B5EF4-FFF2-40B4-BE49-F238E27FC236}">
                  <a16:creationId xmlns:a16="http://schemas.microsoft.com/office/drawing/2014/main" id="{5EB91A36-4A1C-C1CC-560F-9589BF1868A9}"/>
                </a:ext>
                <a:ext uri="{C183D7F6-B498-43B3-948B-1728B52AA6E4}">
                  <adec:decorative xmlns:adec="http://schemas.microsoft.com/office/drawing/2017/decorative" val="1"/>
                </a:ext>
              </a:extLst>
            </p:cNvPr>
            <p:cNvCxnSpPr/>
            <p:nvPr/>
          </p:nvCxnSpPr>
          <p:spPr>
            <a:xfrm>
              <a:off x="5897563" y="2649212"/>
              <a:ext cx="393699"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C1C9C06-AECE-450F-B77E-F421C73BF934}"/>
                </a:ext>
                <a:ext uri="{C183D7F6-B498-43B3-948B-1728B52AA6E4}">
                  <adec:decorative xmlns:adec="http://schemas.microsoft.com/office/drawing/2017/decorative" val="1"/>
                </a:ext>
              </a:extLst>
            </p:cNvPr>
            <p:cNvCxnSpPr/>
            <p:nvPr/>
          </p:nvCxnSpPr>
          <p:spPr>
            <a:xfrm>
              <a:off x="5897563" y="4208788"/>
              <a:ext cx="393699"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9" name="Title 1">
            <a:extLst>
              <a:ext uri="{FF2B5EF4-FFF2-40B4-BE49-F238E27FC236}">
                <a16:creationId xmlns:a16="http://schemas.microsoft.com/office/drawing/2014/main" id="{4744604B-F106-101A-AB53-A546B6875555}"/>
              </a:ext>
            </a:extLst>
          </p:cNvPr>
          <p:cNvSpPr txBox="1">
            <a:spLocks/>
          </p:cNvSpPr>
          <p:nvPr/>
        </p:nvSpPr>
        <p:spPr>
          <a:xfrm>
            <a:off x="2439353" y="2402255"/>
            <a:ext cx="7313294" cy="2262498"/>
          </a:xfrm>
          <a:prstGeom prst="rect">
            <a:avLst/>
          </a:prstGeom>
        </p:spPr>
        <p:txBody>
          <a:bodyPr vert="horz" lIns="0" tIns="0" rIns="0" bIns="0" rtlCol="0" anchor="ctr" anchorCtr="0">
            <a:noAutofit/>
          </a:bodyP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pPr marL="0" marR="0" lvl="0" indent="0" algn="ctr" defTabSz="4572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CVS Health Sans"/>
                <a:ea typeface="+mj-ea"/>
                <a:cs typeface="+mj-cs"/>
              </a:rPr>
              <a:t>Model Explainability</a:t>
            </a:r>
            <a:endParaRPr kumimoji="0" lang="en-US" sz="2550" b="1" i="0" u="none" strike="noStrike" kern="1200" cap="none" spc="0" normalizeH="0" baseline="0" noProof="0">
              <a:ln>
                <a:noFill/>
              </a:ln>
              <a:solidFill>
                <a:prstClr val="white"/>
              </a:solidFill>
              <a:effectLst/>
              <a:uLnTx/>
              <a:uFillTx/>
              <a:latin typeface="CVS Health Sans"/>
              <a:ea typeface="+mj-ea"/>
              <a:cs typeface="+mj-cs"/>
            </a:endParaRPr>
          </a:p>
        </p:txBody>
      </p:sp>
    </p:spTree>
    <p:extLst>
      <p:ext uri="{BB962C8B-B14F-4D97-AF65-F5344CB8AC3E}">
        <p14:creationId xmlns:p14="http://schemas.microsoft.com/office/powerpoint/2010/main" val="3150190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A89B7-85BE-9E13-F257-9998740E2778}"/>
              </a:ext>
            </a:extLst>
          </p:cNvPr>
          <p:cNvSpPr>
            <a:spLocks noGrp="1"/>
          </p:cNvSpPr>
          <p:nvPr>
            <p:ph type="title"/>
          </p:nvPr>
        </p:nvSpPr>
        <p:spPr/>
        <p:txBody>
          <a:bodyPr/>
          <a:lstStyle/>
          <a:p>
            <a:r>
              <a:rPr lang="en-US" sz="2400"/>
              <a:t>Review of previous work in TE  explainability</a:t>
            </a:r>
          </a:p>
        </p:txBody>
      </p:sp>
      <p:sp>
        <p:nvSpPr>
          <p:cNvPr id="3" name="TextBox 2">
            <a:extLst>
              <a:ext uri="{FF2B5EF4-FFF2-40B4-BE49-F238E27FC236}">
                <a16:creationId xmlns:a16="http://schemas.microsoft.com/office/drawing/2014/main" id="{1ABC59CB-5728-9EA5-F930-C77D99C75776}"/>
              </a:ext>
            </a:extLst>
          </p:cNvPr>
          <p:cNvSpPr txBox="1"/>
          <p:nvPr/>
        </p:nvSpPr>
        <p:spPr>
          <a:xfrm>
            <a:off x="3030168" y="1093380"/>
            <a:ext cx="1800045" cy="369332"/>
          </a:xfrm>
          <a:prstGeom prst="rect">
            <a:avLst/>
          </a:prstGeom>
          <a:noFill/>
        </p:spPr>
        <p:txBody>
          <a:bodyPr wrap="none" rtlCol="0">
            <a:spAutoFit/>
          </a:bodyPr>
          <a:lstStyle/>
          <a:p>
            <a:pPr algn="l"/>
            <a:r>
              <a:rPr lang="en-US" b="1">
                <a:solidFill>
                  <a:schemeClr val="tx2"/>
                </a:solidFill>
                <a:latin typeface="CVS Health Sans" panose="020B0504020202020204" pitchFamily="34" charset="0"/>
              </a:rPr>
              <a:t>Task-oriented </a:t>
            </a:r>
          </a:p>
        </p:txBody>
      </p:sp>
      <p:sp>
        <p:nvSpPr>
          <p:cNvPr id="4" name="TextBox 3">
            <a:extLst>
              <a:ext uri="{FF2B5EF4-FFF2-40B4-BE49-F238E27FC236}">
                <a16:creationId xmlns:a16="http://schemas.microsoft.com/office/drawing/2014/main" id="{79574408-6E55-2359-F5D3-F2CDD84571E6}"/>
              </a:ext>
            </a:extLst>
          </p:cNvPr>
          <p:cNvSpPr txBox="1"/>
          <p:nvPr/>
        </p:nvSpPr>
        <p:spPr>
          <a:xfrm>
            <a:off x="8868101" y="863147"/>
            <a:ext cx="2207336" cy="646331"/>
          </a:xfrm>
          <a:prstGeom prst="rect">
            <a:avLst/>
          </a:prstGeom>
          <a:noFill/>
        </p:spPr>
        <p:txBody>
          <a:bodyPr wrap="none" rtlCol="0">
            <a:spAutoFit/>
          </a:bodyPr>
          <a:lstStyle/>
          <a:p>
            <a:pPr algn="ctr"/>
            <a:r>
              <a:rPr lang="en-US" b="1">
                <a:solidFill>
                  <a:schemeClr val="tx2"/>
                </a:solidFill>
              </a:rPr>
              <a:t>Task-agnostic </a:t>
            </a:r>
          </a:p>
          <a:p>
            <a:pPr algn="ctr"/>
            <a:r>
              <a:rPr lang="en-US" b="1">
                <a:solidFill>
                  <a:schemeClr val="tx2"/>
                </a:solidFill>
              </a:rPr>
              <a:t>(Model behavior) </a:t>
            </a:r>
          </a:p>
        </p:txBody>
      </p:sp>
      <p:sp>
        <p:nvSpPr>
          <p:cNvPr id="7" name="TextBox 6">
            <a:extLst>
              <a:ext uri="{FF2B5EF4-FFF2-40B4-BE49-F238E27FC236}">
                <a16:creationId xmlns:a16="http://schemas.microsoft.com/office/drawing/2014/main" id="{7848CDA0-D9FA-2782-C367-EE988C8A007B}"/>
              </a:ext>
            </a:extLst>
          </p:cNvPr>
          <p:cNvSpPr txBox="1"/>
          <p:nvPr/>
        </p:nvSpPr>
        <p:spPr>
          <a:xfrm>
            <a:off x="595401" y="1743646"/>
            <a:ext cx="2224199" cy="523220"/>
          </a:xfrm>
          <a:prstGeom prst="rect">
            <a:avLst/>
          </a:prstGeom>
          <a:noFill/>
        </p:spPr>
        <p:txBody>
          <a:bodyPr wrap="square" rtlCol="0">
            <a:spAutoFit/>
          </a:bodyPr>
          <a:lstStyle/>
          <a:p>
            <a:pPr algn="ctr"/>
            <a:r>
              <a:rPr lang="en-US" sz="1400" b="1">
                <a:solidFill>
                  <a:schemeClr val="tx2"/>
                </a:solidFill>
                <a:latin typeface="CVS Health Sans" panose="020B0504020202020204" pitchFamily="34" charset="0"/>
              </a:rPr>
              <a:t>Semantic meanings of the embedding</a:t>
            </a:r>
          </a:p>
        </p:txBody>
      </p:sp>
      <p:sp>
        <p:nvSpPr>
          <p:cNvPr id="8" name="TextBox 7">
            <a:extLst>
              <a:ext uri="{FF2B5EF4-FFF2-40B4-BE49-F238E27FC236}">
                <a16:creationId xmlns:a16="http://schemas.microsoft.com/office/drawing/2014/main" id="{3D41188F-620E-4BB5-DAEF-62ABA4F208DE}"/>
              </a:ext>
            </a:extLst>
          </p:cNvPr>
          <p:cNvSpPr txBox="1"/>
          <p:nvPr/>
        </p:nvSpPr>
        <p:spPr>
          <a:xfrm>
            <a:off x="2903023" y="1743646"/>
            <a:ext cx="2224199" cy="523220"/>
          </a:xfrm>
          <a:prstGeom prst="rect">
            <a:avLst/>
          </a:prstGeom>
          <a:noFill/>
        </p:spPr>
        <p:txBody>
          <a:bodyPr wrap="square" rtlCol="0">
            <a:spAutoFit/>
          </a:bodyPr>
          <a:lstStyle/>
          <a:p>
            <a:pPr algn="ctr"/>
            <a:r>
              <a:rPr lang="en-US" sz="1400" b="1">
                <a:solidFill>
                  <a:schemeClr val="tx2"/>
                </a:solidFill>
                <a:latin typeface="CVS Health Sans" panose="020B0504020202020204" pitchFamily="34" charset="0"/>
              </a:rPr>
              <a:t>Primary driver of predictions</a:t>
            </a:r>
          </a:p>
        </p:txBody>
      </p:sp>
      <p:sp>
        <p:nvSpPr>
          <p:cNvPr id="9" name="TextBox 8">
            <a:extLst>
              <a:ext uri="{FF2B5EF4-FFF2-40B4-BE49-F238E27FC236}">
                <a16:creationId xmlns:a16="http://schemas.microsoft.com/office/drawing/2014/main" id="{76FB2C14-B77F-A824-F90B-46DEC1AC4D48}"/>
              </a:ext>
            </a:extLst>
          </p:cNvPr>
          <p:cNvSpPr txBox="1"/>
          <p:nvPr/>
        </p:nvSpPr>
        <p:spPr>
          <a:xfrm>
            <a:off x="8356581" y="1723806"/>
            <a:ext cx="2718856" cy="523220"/>
          </a:xfrm>
          <a:prstGeom prst="rect">
            <a:avLst/>
          </a:prstGeom>
          <a:noFill/>
        </p:spPr>
        <p:txBody>
          <a:bodyPr wrap="square" rtlCol="0">
            <a:spAutoFit/>
          </a:bodyPr>
          <a:lstStyle/>
          <a:p>
            <a:pPr algn="ctr"/>
            <a:r>
              <a:rPr lang="en-US" sz="1400" b="1">
                <a:solidFill>
                  <a:schemeClr val="tx2"/>
                </a:solidFill>
                <a:latin typeface="CVS Health Sans" panose="020B0504020202020204" pitchFamily="34" charset="0"/>
              </a:rPr>
              <a:t>Model learning dynamics and concept representations</a:t>
            </a:r>
          </a:p>
        </p:txBody>
      </p:sp>
      <p:pic>
        <p:nvPicPr>
          <p:cNvPr id="11" name="Picture 10">
            <a:extLst>
              <a:ext uri="{FF2B5EF4-FFF2-40B4-BE49-F238E27FC236}">
                <a16:creationId xmlns:a16="http://schemas.microsoft.com/office/drawing/2014/main" id="{0C6A5C49-E903-C855-F11B-34CDC4F57528}"/>
              </a:ext>
            </a:extLst>
          </p:cNvPr>
          <p:cNvPicPr>
            <a:picLocks noChangeAspect="1"/>
          </p:cNvPicPr>
          <p:nvPr/>
        </p:nvPicPr>
        <p:blipFill>
          <a:blip r:embed="rId3"/>
          <a:stretch>
            <a:fillRect/>
          </a:stretch>
        </p:blipFill>
        <p:spPr>
          <a:xfrm>
            <a:off x="372220" y="4015306"/>
            <a:ext cx="2607957" cy="1815882"/>
          </a:xfrm>
          <a:prstGeom prst="rect">
            <a:avLst/>
          </a:prstGeom>
        </p:spPr>
      </p:pic>
      <p:sp>
        <p:nvSpPr>
          <p:cNvPr id="12" name="TextBox 11">
            <a:extLst>
              <a:ext uri="{FF2B5EF4-FFF2-40B4-BE49-F238E27FC236}">
                <a16:creationId xmlns:a16="http://schemas.microsoft.com/office/drawing/2014/main" id="{96A01DCD-AC5A-90D0-E92B-2C02C96CB23E}"/>
              </a:ext>
            </a:extLst>
          </p:cNvPr>
          <p:cNvSpPr txBox="1"/>
          <p:nvPr/>
        </p:nvSpPr>
        <p:spPr>
          <a:xfrm>
            <a:off x="557929" y="2335791"/>
            <a:ext cx="2437198" cy="1492716"/>
          </a:xfrm>
          <a:prstGeom prst="rect">
            <a:avLst/>
          </a:prstGeom>
          <a:noFill/>
        </p:spPr>
        <p:txBody>
          <a:bodyPr wrap="square" rtlCol="0">
            <a:spAutoFit/>
          </a:bodyPr>
          <a:lstStyle/>
          <a:p>
            <a:pPr algn="ctr"/>
            <a:r>
              <a:rPr lang="en-US" sz="1300" b="1">
                <a:solidFill>
                  <a:schemeClr val="tx2"/>
                </a:solidFill>
                <a:latin typeface="CVS Health Sans" panose="020B0504020202020204" pitchFamily="34" charset="0"/>
              </a:rPr>
              <a:t>Correlation</a:t>
            </a:r>
            <a:r>
              <a:rPr lang="en-US" sz="1300">
                <a:solidFill>
                  <a:schemeClr val="tx2"/>
                </a:solidFill>
                <a:latin typeface="CVS Health Sans" panose="020B0504020202020204" pitchFamily="34" charset="0"/>
              </a:rPr>
              <a:t> between a given TE dimension with traditional features, e.g., emb154 is associated with diabetes in Medicaid; emb186 encodes claims volume and utilization patterns</a:t>
            </a:r>
          </a:p>
        </p:txBody>
      </p:sp>
      <p:sp>
        <p:nvSpPr>
          <p:cNvPr id="13" name="TextBox 12">
            <a:extLst>
              <a:ext uri="{FF2B5EF4-FFF2-40B4-BE49-F238E27FC236}">
                <a16:creationId xmlns:a16="http://schemas.microsoft.com/office/drawing/2014/main" id="{F8EC5B50-4198-31C6-448A-561DF9A21E27}"/>
              </a:ext>
            </a:extLst>
          </p:cNvPr>
          <p:cNvSpPr txBox="1"/>
          <p:nvPr/>
        </p:nvSpPr>
        <p:spPr>
          <a:xfrm>
            <a:off x="5366910" y="1723806"/>
            <a:ext cx="2224199" cy="523220"/>
          </a:xfrm>
          <a:prstGeom prst="rect">
            <a:avLst/>
          </a:prstGeom>
          <a:noFill/>
        </p:spPr>
        <p:txBody>
          <a:bodyPr wrap="square" rtlCol="0">
            <a:spAutoFit/>
          </a:bodyPr>
          <a:lstStyle/>
          <a:p>
            <a:pPr algn="ctr"/>
            <a:r>
              <a:rPr lang="en-US" sz="1400" b="1">
                <a:solidFill>
                  <a:schemeClr val="tx2"/>
                </a:solidFill>
                <a:latin typeface="CVS Health Sans" panose="020B0504020202020204" pitchFamily="34" charset="0"/>
              </a:rPr>
              <a:t>Primary driver of prediction – LLM</a:t>
            </a:r>
          </a:p>
        </p:txBody>
      </p:sp>
      <p:sp>
        <p:nvSpPr>
          <p:cNvPr id="14" name="TextBox 13">
            <a:extLst>
              <a:ext uri="{FF2B5EF4-FFF2-40B4-BE49-F238E27FC236}">
                <a16:creationId xmlns:a16="http://schemas.microsoft.com/office/drawing/2014/main" id="{B2F67267-D18F-1794-20C0-FF42BFD2F858}"/>
              </a:ext>
            </a:extLst>
          </p:cNvPr>
          <p:cNvSpPr txBox="1"/>
          <p:nvPr/>
        </p:nvSpPr>
        <p:spPr>
          <a:xfrm>
            <a:off x="2954593" y="2335791"/>
            <a:ext cx="2523271" cy="1292662"/>
          </a:xfrm>
          <a:prstGeom prst="rect">
            <a:avLst/>
          </a:prstGeom>
          <a:noFill/>
        </p:spPr>
        <p:txBody>
          <a:bodyPr wrap="square" rtlCol="0">
            <a:spAutoFit/>
          </a:bodyPr>
          <a:lstStyle/>
          <a:p>
            <a:pPr algn="ctr"/>
            <a:r>
              <a:rPr lang="en-US" sz="1300">
                <a:solidFill>
                  <a:schemeClr val="tx2"/>
                </a:solidFill>
                <a:latin typeface="CVS Health Sans" panose="020B0504020202020204" pitchFamily="34" charset="0"/>
              </a:rPr>
              <a:t>Identify </a:t>
            </a:r>
            <a:r>
              <a:rPr lang="en-US" sz="1300" b="1">
                <a:solidFill>
                  <a:schemeClr val="tx2"/>
                </a:solidFill>
                <a:latin typeface="CVS Health Sans" panose="020B0504020202020204" pitchFamily="34" charset="0"/>
              </a:rPr>
              <a:t>importance of specific embedding dimensions </a:t>
            </a:r>
            <a:r>
              <a:rPr lang="en-US" sz="1300">
                <a:solidFill>
                  <a:schemeClr val="tx2"/>
                </a:solidFill>
                <a:latin typeface="CVS Health Sans" panose="020B0504020202020204" pitchFamily="34" charset="0"/>
              </a:rPr>
              <a:t>on downstream classification tasks by measuring effects of removing such dimensions</a:t>
            </a:r>
          </a:p>
        </p:txBody>
      </p:sp>
      <p:sp>
        <p:nvSpPr>
          <p:cNvPr id="16" name="TextBox 15">
            <a:extLst>
              <a:ext uri="{FF2B5EF4-FFF2-40B4-BE49-F238E27FC236}">
                <a16:creationId xmlns:a16="http://schemas.microsoft.com/office/drawing/2014/main" id="{B1266497-E7FA-81EB-3825-882B37A1F605}"/>
              </a:ext>
            </a:extLst>
          </p:cNvPr>
          <p:cNvSpPr txBox="1"/>
          <p:nvPr/>
        </p:nvSpPr>
        <p:spPr>
          <a:xfrm>
            <a:off x="5391791" y="2335791"/>
            <a:ext cx="2555517" cy="1092607"/>
          </a:xfrm>
          <a:prstGeom prst="rect">
            <a:avLst/>
          </a:prstGeom>
          <a:noFill/>
        </p:spPr>
        <p:txBody>
          <a:bodyPr wrap="square" rtlCol="0">
            <a:spAutoFit/>
          </a:bodyPr>
          <a:lstStyle/>
          <a:p>
            <a:pPr algn="ctr"/>
            <a:r>
              <a:rPr lang="en-US" sz="1300">
                <a:solidFill>
                  <a:schemeClr val="tx2"/>
                </a:solidFill>
                <a:latin typeface="CVS Health Sans" panose="020B0504020202020204" pitchFamily="34" charset="0"/>
              </a:rPr>
              <a:t>Use </a:t>
            </a:r>
            <a:r>
              <a:rPr lang="en-US" sz="1300" b="1">
                <a:solidFill>
                  <a:schemeClr val="tx2"/>
                </a:solidFill>
                <a:latin typeface="CVS Health Sans" panose="020B0504020202020204" pitchFamily="34" charset="0"/>
              </a:rPr>
              <a:t>LLM</a:t>
            </a:r>
            <a:r>
              <a:rPr lang="en-US" sz="1300">
                <a:solidFill>
                  <a:schemeClr val="tx2"/>
                </a:solidFill>
                <a:latin typeface="CVS Health Sans" panose="020B0504020202020204" pitchFamily="34" charset="0"/>
              </a:rPr>
              <a:t> to directly generate reasoning and explanations of the prediction outcomes, given the raw claim inputs and derived feature importance.  </a:t>
            </a:r>
          </a:p>
        </p:txBody>
      </p:sp>
      <p:pic>
        <p:nvPicPr>
          <p:cNvPr id="1026" name="Picture 2" descr="Understanding Shapley Values with Venn ...">
            <a:extLst>
              <a:ext uri="{FF2B5EF4-FFF2-40B4-BE49-F238E27FC236}">
                <a16:creationId xmlns:a16="http://schemas.microsoft.com/office/drawing/2014/main" id="{110E0AF9-6DAD-44C4-D9B5-780EA0827C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7361" y="4079065"/>
            <a:ext cx="2450504" cy="1292661"/>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B9D4AD81-E4F2-EEBB-3D0F-237BA3635F52}"/>
              </a:ext>
            </a:extLst>
          </p:cNvPr>
          <p:cNvGrpSpPr/>
          <p:nvPr/>
        </p:nvGrpSpPr>
        <p:grpSpPr>
          <a:xfrm>
            <a:off x="6322068" y="4689925"/>
            <a:ext cx="699696" cy="846757"/>
            <a:chOff x="6212334" y="5254957"/>
            <a:chExt cx="699696" cy="846757"/>
          </a:xfrm>
        </p:grpSpPr>
        <p:pic>
          <p:nvPicPr>
            <p:cNvPr id="17" name="Graphic 16" descr="Left Brain with solid fill">
              <a:extLst>
                <a:ext uri="{FF2B5EF4-FFF2-40B4-BE49-F238E27FC236}">
                  <a16:creationId xmlns:a16="http://schemas.microsoft.com/office/drawing/2014/main" id="{DD31059C-83A6-10AB-F712-B6441944FC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2819" y="5254957"/>
              <a:ext cx="658726" cy="645588"/>
            </a:xfrm>
            <a:prstGeom prst="rect">
              <a:avLst/>
            </a:prstGeom>
          </p:spPr>
        </p:pic>
        <p:sp>
          <p:nvSpPr>
            <p:cNvPr id="18" name="TextBox 17">
              <a:extLst>
                <a:ext uri="{FF2B5EF4-FFF2-40B4-BE49-F238E27FC236}">
                  <a16:creationId xmlns:a16="http://schemas.microsoft.com/office/drawing/2014/main" id="{F5F671C9-1407-9850-359E-22EC4648B8FF}"/>
                </a:ext>
              </a:extLst>
            </p:cNvPr>
            <p:cNvSpPr txBox="1"/>
            <p:nvPr/>
          </p:nvSpPr>
          <p:spPr>
            <a:xfrm>
              <a:off x="6212334" y="5763160"/>
              <a:ext cx="699696" cy="338554"/>
            </a:xfrm>
            <a:prstGeom prst="rect">
              <a:avLst/>
            </a:prstGeom>
            <a:noFill/>
          </p:spPr>
          <p:txBody>
            <a:bodyPr wrap="square" lIns="91440" tIns="45720" rIns="91440" bIns="45720" rtlCol="0" anchor="t">
              <a:spAutoFit/>
            </a:bodyPr>
            <a:lstStyle/>
            <a:p>
              <a:pPr algn="ctr"/>
              <a:r>
                <a:rPr lang="en-US" sz="1600" b="1">
                  <a:solidFill>
                    <a:srgbClr val="0A4A89"/>
                  </a:solidFill>
                  <a:ea typeface="+mn-lt"/>
                  <a:cs typeface="+mn-lt"/>
                </a:rPr>
                <a:t>LLM</a:t>
              </a:r>
              <a:endParaRPr lang="en-US" sz="1600" b="1"/>
            </a:p>
          </p:txBody>
        </p:sp>
      </p:grpSp>
      <p:pic>
        <p:nvPicPr>
          <p:cNvPr id="20" name="Picture 19" descr="A screenshot of a computer code&#10;&#10;AI-generated content may be incorrect.">
            <a:extLst>
              <a:ext uri="{FF2B5EF4-FFF2-40B4-BE49-F238E27FC236}">
                <a16:creationId xmlns:a16="http://schemas.microsoft.com/office/drawing/2014/main" id="{B89B7622-9F48-4FF5-52EF-390A6DCBCA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45178" y="3884536"/>
            <a:ext cx="1248741" cy="772630"/>
          </a:xfrm>
          <a:prstGeom prst="rect">
            <a:avLst/>
          </a:prstGeom>
        </p:spPr>
      </p:pic>
      <p:sp>
        <p:nvSpPr>
          <p:cNvPr id="22" name="TextBox 21">
            <a:extLst>
              <a:ext uri="{FF2B5EF4-FFF2-40B4-BE49-F238E27FC236}">
                <a16:creationId xmlns:a16="http://schemas.microsoft.com/office/drawing/2014/main" id="{47615787-D7A5-EEDA-BEF3-A7088BB26CE1}"/>
              </a:ext>
            </a:extLst>
          </p:cNvPr>
          <p:cNvSpPr txBox="1"/>
          <p:nvPr/>
        </p:nvSpPr>
        <p:spPr>
          <a:xfrm>
            <a:off x="5589036" y="3622926"/>
            <a:ext cx="1013927" cy="261610"/>
          </a:xfrm>
          <a:prstGeom prst="rect">
            <a:avLst/>
          </a:prstGeom>
          <a:noFill/>
        </p:spPr>
        <p:txBody>
          <a:bodyPr wrap="square">
            <a:spAutoFit/>
          </a:bodyPr>
          <a:lstStyle/>
          <a:p>
            <a:r>
              <a:rPr lang="en-US" sz="1050">
                <a:solidFill>
                  <a:schemeClr val="tx1">
                    <a:lumMod val="75000"/>
                    <a:lumOff val="25000"/>
                  </a:schemeClr>
                </a:solidFill>
              </a:rPr>
              <a:t>Member A:</a:t>
            </a:r>
          </a:p>
        </p:txBody>
      </p:sp>
      <p:sp>
        <p:nvSpPr>
          <p:cNvPr id="25" name="TextBox 24">
            <a:extLst>
              <a:ext uri="{FF2B5EF4-FFF2-40B4-BE49-F238E27FC236}">
                <a16:creationId xmlns:a16="http://schemas.microsoft.com/office/drawing/2014/main" id="{CCA9A6B1-143C-6345-F69E-B4C73CA648B4}"/>
              </a:ext>
            </a:extLst>
          </p:cNvPr>
          <p:cNvSpPr txBox="1"/>
          <p:nvPr/>
        </p:nvSpPr>
        <p:spPr>
          <a:xfrm>
            <a:off x="5601686" y="5536682"/>
            <a:ext cx="2219816" cy="900246"/>
          </a:xfrm>
          <a:prstGeom prst="rect">
            <a:avLst/>
          </a:prstGeom>
          <a:noFill/>
        </p:spPr>
        <p:txBody>
          <a:bodyPr wrap="square">
            <a:spAutoFit/>
          </a:bodyPr>
          <a:lstStyle/>
          <a:p>
            <a:r>
              <a:rPr lang="en-US" sz="1050" b="1">
                <a:solidFill>
                  <a:schemeClr val="tx1">
                    <a:lumMod val="75000"/>
                    <a:lumOff val="25000"/>
                  </a:schemeClr>
                </a:solidFill>
                <a:latin typeface="CVS Health Sans" panose="020B0504020202020204" pitchFamily="34" charset="0"/>
                <a:cs typeface="Times New Roman"/>
              </a:rPr>
              <a:t>Gemini</a:t>
            </a:r>
            <a:r>
              <a:rPr lang="en-US" sz="1050">
                <a:solidFill>
                  <a:schemeClr val="tx1">
                    <a:lumMod val="75000"/>
                    <a:lumOff val="25000"/>
                  </a:schemeClr>
                </a:solidFill>
                <a:latin typeface="CVS Health Sans" panose="020B0504020202020204" pitchFamily="34" charset="0"/>
                <a:cs typeface="Times New Roman"/>
              </a:rPr>
              <a:t>: “</a:t>
            </a:r>
            <a:r>
              <a:rPr lang="en-US" sz="1050" i="1">
                <a:solidFill>
                  <a:schemeClr val="tx1">
                    <a:lumMod val="75000"/>
                    <a:lumOff val="25000"/>
                  </a:schemeClr>
                </a:solidFill>
                <a:latin typeface="CVS Health Sans" panose="020B0504020202020204" pitchFamily="34" charset="0"/>
                <a:cs typeface="Times New Roman"/>
              </a:rPr>
              <a:t>The member faces a high likelihood of inpatient admission in the next three months due to several compounding clinical factors…...“</a:t>
            </a:r>
          </a:p>
        </p:txBody>
      </p:sp>
      <p:sp>
        <p:nvSpPr>
          <p:cNvPr id="26" name="TextBox 25">
            <a:extLst>
              <a:ext uri="{FF2B5EF4-FFF2-40B4-BE49-F238E27FC236}">
                <a16:creationId xmlns:a16="http://schemas.microsoft.com/office/drawing/2014/main" id="{AD179A28-9DFA-B06E-780E-0DDD06E39951}"/>
              </a:ext>
            </a:extLst>
          </p:cNvPr>
          <p:cNvSpPr txBox="1"/>
          <p:nvPr/>
        </p:nvSpPr>
        <p:spPr>
          <a:xfrm>
            <a:off x="8245438" y="2318570"/>
            <a:ext cx="3707076" cy="1292662"/>
          </a:xfrm>
          <a:prstGeom prst="rect">
            <a:avLst/>
          </a:prstGeom>
          <a:noFill/>
        </p:spPr>
        <p:txBody>
          <a:bodyPr wrap="square" rtlCol="0">
            <a:spAutoFit/>
          </a:bodyPr>
          <a:lstStyle/>
          <a:p>
            <a:pPr algn="ctr"/>
            <a:r>
              <a:rPr lang="en-US" sz="1300">
                <a:solidFill>
                  <a:schemeClr val="tx2"/>
                </a:solidFill>
                <a:latin typeface="CVS Health Sans" panose="020B0504020202020204" pitchFamily="34" charset="0"/>
              </a:rPr>
              <a:t>Dissect the transformer model </a:t>
            </a:r>
            <a:r>
              <a:rPr lang="en-US" sz="1300" b="1">
                <a:solidFill>
                  <a:schemeClr val="tx2"/>
                </a:solidFill>
                <a:latin typeface="CVS Health Sans" panose="020B0504020202020204" pitchFamily="34" charset="0"/>
              </a:rPr>
              <a:t>layer-by-layer</a:t>
            </a:r>
            <a:r>
              <a:rPr lang="en-US" sz="1300">
                <a:solidFill>
                  <a:schemeClr val="tx2"/>
                </a:solidFill>
                <a:latin typeface="CVS Health Sans" panose="020B0504020202020204" pitchFamily="34" charset="0"/>
              </a:rPr>
              <a:t> to understand what clinical concepts are learned, where they are encoded, and how the learning information evolves through the network's depth</a:t>
            </a:r>
          </a:p>
        </p:txBody>
      </p:sp>
      <p:grpSp>
        <p:nvGrpSpPr>
          <p:cNvPr id="27" name="Group 26">
            <a:extLst>
              <a:ext uri="{FF2B5EF4-FFF2-40B4-BE49-F238E27FC236}">
                <a16:creationId xmlns:a16="http://schemas.microsoft.com/office/drawing/2014/main" id="{64A7E0A7-13DE-0252-5C23-DDC750487C60}"/>
              </a:ext>
            </a:extLst>
          </p:cNvPr>
          <p:cNvGrpSpPr/>
          <p:nvPr/>
        </p:nvGrpSpPr>
        <p:grpSpPr>
          <a:xfrm>
            <a:off x="8765286" y="5016377"/>
            <a:ext cx="2144430" cy="1176733"/>
            <a:chOff x="6314993" y="2584927"/>
            <a:chExt cx="5293871" cy="2904958"/>
          </a:xfrm>
        </p:grpSpPr>
        <p:pic>
          <p:nvPicPr>
            <p:cNvPr id="28" name="Picture 27" descr="A graph of different colored lines&#10;&#10;AI-generated content may be incorrect.">
              <a:extLst>
                <a:ext uri="{FF2B5EF4-FFF2-40B4-BE49-F238E27FC236}">
                  <a16:creationId xmlns:a16="http://schemas.microsoft.com/office/drawing/2014/main" id="{52DF1CD1-C5CB-958B-3508-7723E2F5CFE4}"/>
                </a:ext>
              </a:extLst>
            </p:cNvPr>
            <p:cNvPicPr>
              <a:picLocks noChangeAspect="1"/>
            </p:cNvPicPr>
            <p:nvPr/>
          </p:nvPicPr>
          <p:blipFill>
            <a:blip r:embed="rId7"/>
            <a:stretch>
              <a:fillRect/>
            </a:stretch>
          </p:blipFill>
          <p:spPr>
            <a:xfrm>
              <a:off x="6321272" y="2584927"/>
              <a:ext cx="5287592" cy="2667785"/>
            </a:xfrm>
            <a:prstGeom prst="rect">
              <a:avLst/>
            </a:prstGeom>
          </p:spPr>
        </p:pic>
        <p:pic>
          <p:nvPicPr>
            <p:cNvPr id="29" name="Picture 28" descr="A white background with black and white clouds&#10;&#10;AI-generated content may be incorrect.">
              <a:extLst>
                <a:ext uri="{FF2B5EF4-FFF2-40B4-BE49-F238E27FC236}">
                  <a16:creationId xmlns:a16="http://schemas.microsoft.com/office/drawing/2014/main" id="{030886F5-5034-2D2C-5B45-F692452A3161}"/>
                </a:ext>
              </a:extLst>
            </p:cNvPr>
            <p:cNvPicPr>
              <a:picLocks noChangeAspect="1"/>
            </p:cNvPicPr>
            <p:nvPr/>
          </p:nvPicPr>
          <p:blipFill>
            <a:blip r:embed="rId8"/>
            <a:stretch>
              <a:fillRect/>
            </a:stretch>
          </p:blipFill>
          <p:spPr>
            <a:xfrm>
              <a:off x="6314993" y="5233866"/>
              <a:ext cx="5280976" cy="256019"/>
            </a:xfrm>
            <a:prstGeom prst="rect">
              <a:avLst/>
            </a:prstGeom>
          </p:spPr>
        </p:pic>
      </p:grpSp>
      <p:grpSp>
        <p:nvGrpSpPr>
          <p:cNvPr id="30" name="Group 29">
            <a:extLst>
              <a:ext uri="{FF2B5EF4-FFF2-40B4-BE49-F238E27FC236}">
                <a16:creationId xmlns:a16="http://schemas.microsoft.com/office/drawing/2014/main" id="{22CB4FE9-AE71-9AB9-482C-F83E3EF492C8}"/>
              </a:ext>
            </a:extLst>
          </p:cNvPr>
          <p:cNvGrpSpPr/>
          <p:nvPr/>
        </p:nvGrpSpPr>
        <p:grpSpPr>
          <a:xfrm>
            <a:off x="8819756" y="3869278"/>
            <a:ext cx="2036366" cy="1053969"/>
            <a:chOff x="433753" y="2551325"/>
            <a:chExt cx="5848042" cy="3026791"/>
          </a:xfrm>
        </p:grpSpPr>
        <p:pic>
          <p:nvPicPr>
            <p:cNvPr id="31" name="Picture 30" descr="A graph with different colored lines and stars&#10;&#10;AI-generated content may be incorrect.">
              <a:extLst>
                <a:ext uri="{FF2B5EF4-FFF2-40B4-BE49-F238E27FC236}">
                  <a16:creationId xmlns:a16="http://schemas.microsoft.com/office/drawing/2014/main" id="{6893340A-377D-DA1D-FA28-A3F64CD2C9BD}"/>
                </a:ext>
              </a:extLst>
            </p:cNvPr>
            <p:cNvPicPr>
              <a:picLocks noChangeAspect="1"/>
            </p:cNvPicPr>
            <p:nvPr/>
          </p:nvPicPr>
          <p:blipFill>
            <a:blip r:embed="rId9"/>
            <a:stretch>
              <a:fillRect/>
            </a:stretch>
          </p:blipFill>
          <p:spPr>
            <a:xfrm>
              <a:off x="439147" y="2551325"/>
              <a:ext cx="5842648" cy="2755745"/>
            </a:xfrm>
            <a:prstGeom prst="rect">
              <a:avLst/>
            </a:prstGeom>
          </p:spPr>
        </p:pic>
        <p:pic>
          <p:nvPicPr>
            <p:cNvPr id="32" name="Picture 31" descr="A white background with black and white clouds&#10;&#10;AI-generated content may be incorrect.">
              <a:extLst>
                <a:ext uri="{FF2B5EF4-FFF2-40B4-BE49-F238E27FC236}">
                  <a16:creationId xmlns:a16="http://schemas.microsoft.com/office/drawing/2014/main" id="{A94C0125-21B5-CF4E-B4E9-986B9F98A60A}"/>
                </a:ext>
              </a:extLst>
            </p:cNvPr>
            <p:cNvPicPr>
              <a:picLocks noChangeAspect="1"/>
            </p:cNvPicPr>
            <p:nvPr/>
          </p:nvPicPr>
          <p:blipFill>
            <a:blip r:embed="rId8"/>
            <a:stretch>
              <a:fillRect/>
            </a:stretch>
          </p:blipFill>
          <p:spPr>
            <a:xfrm>
              <a:off x="433753" y="5294332"/>
              <a:ext cx="5845530" cy="283784"/>
            </a:xfrm>
            <a:prstGeom prst="rect">
              <a:avLst/>
            </a:prstGeom>
          </p:spPr>
        </p:pic>
      </p:grpSp>
      <p:sp>
        <p:nvSpPr>
          <p:cNvPr id="33" name="Left Brace 32">
            <a:extLst>
              <a:ext uri="{FF2B5EF4-FFF2-40B4-BE49-F238E27FC236}">
                <a16:creationId xmlns:a16="http://schemas.microsoft.com/office/drawing/2014/main" id="{15FBDC68-3B4D-8091-264D-A99FA14A1F34}"/>
              </a:ext>
            </a:extLst>
          </p:cNvPr>
          <p:cNvSpPr/>
          <p:nvPr/>
        </p:nvSpPr>
        <p:spPr>
          <a:xfrm rot="5400000">
            <a:off x="3712018" y="-1885485"/>
            <a:ext cx="369332" cy="6986326"/>
          </a:xfrm>
          <a:prstGeom prst="leftBrace">
            <a:avLst>
              <a:gd name="adj1" fmla="val 8333"/>
              <a:gd name="adj2" fmla="val 49548"/>
            </a:avLst>
          </a:prstGeom>
          <a:ln w="12700" cmpd="sng">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Left Brace 33">
            <a:extLst>
              <a:ext uri="{FF2B5EF4-FFF2-40B4-BE49-F238E27FC236}">
                <a16:creationId xmlns:a16="http://schemas.microsoft.com/office/drawing/2014/main" id="{81B86B9C-F523-EA43-03D6-5974D34D565F}"/>
              </a:ext>
            </a:extLst>
          </p:cNvPr>
          <p:cNvSpPr/>
          <p:nvPr/>
        </p:nvSpPr>
        <p:spPr>
          <a:xfrm rot="5400000">
            <a:off x="9657718" y="80982"/>
            <a:ext cx="369332" cy="3081930"/>
          </a:xfrm>
          <a:prstGeom prst="leftBrace">
            <a:avLst>
              <a:gd name="adj1" fmla="val 8333"/>
              <a:gd name="adj2" fmla="val 49548"/>
            </a:avLst>
          </a:prstGeom>
          <a:ln w="12700" cmpd="sng">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023849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4855D7F-A6A5-47D0-826F-BA0771D5437D}"/>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7" name="Object 6" hidden="1">
                        <a:extLst>
                          <a:ext uri="{FF2B5EF4-FFF2-40B4-BE49-F238E27FC236}">
                            <a16:creationId xmlns:a16="http://schemas.microsoft.com/office/drawing/2014/main" id="{B4855D7F-A6A5-47D0-826F-BA0771D5437D}"/>
                          </a:ext>
                        </a:extLst>
                      </p:cNvPr>
                      <p:cNvPicPr/>
                      <p:nvPr/>
                    </p:nvPicPr>
                    <p:blipFill>
                      <a:blip r:embed="rId5"/>
                      <a:stretch>
                        <a:fillRect/>
                      </a:stretch>
                    </p:blipFill>
                    <p:spPr>
                      <a:xfrm>
                        <a:off x="3175" y="2480"/>
                        <a:ext cx="1588" cy="1588"/>
                      </a:xfrm>
                      <a:prstGeom prst="rect">
                        <a:avLst/>
                      </a:prstGeom>
                    </p:spPr>
                  </p:pic>
                </p:oleObj>
              </mc:Fallback>
            </mc:AlternateContent>
          </a:graphicData>
        </a:graphic>
      </p:graphicFrame>
      <p:sp>
        <p:nvSpPr>
          <p:cNvPr id="4" name="Content Placeholder 2">
            <a:extLst>
              <a:ext uri="{FF2B5EF4-FFF2-40B4-BE49-F238E27FC236}">
                <a16:creationId xmlns:a16="http://schemas.microsoft.com/office/drawing/2014/main" id="{2F846CBD-75FB-6591-E9DC-AED6EFDA4627}"/>
              </a:ext>
            </a:extLst>
          </p:cNvPr>
          <p:cNvSpPr>
            <a:spLocks noGrp="1"/>
          </p:cNvSpPr>
          <p:nvPr>
            <p:ph idx="1"/>
          </p:nvPr>
        </p:nvSpPr>
        <p:spPr>
          <a:xfrm>
            <a:off x="395549" y="1810336"/>
            <a:ext cx="8814816" cy="3977640"/>
          </a:xfrm>
        </p:spPr>
        <p:txBody>
          <a:bodyPr/>
          <a:lstStyle/>
          <a:p>
            <a:pPr marL="285750" indent="-285750">
              <a:buFont typeface="Arial" panose="020B0604020202020204" pitchFamily="34" charset="0"/>
              <a:buChar char="•"/>
            </a:pPr>
            <a:r>
              <a:rPr lang="en-US"/>
              <a:t>Embedding 224 is associated with nearly everything</a:t>
            </a:r>
          </a:p>
          <a:p>
            <a:pPr marL="633413" lvl="2" indent="-285750"/>
            <a:r>
              <a:rPr lang="en-US" sz="1800"/>
              <a:t>Most statistically significant association is major chronic count</a:t>
            </a:r>
          </a:p>
          <a:p>
            <a:pPr marL="633413" lvl="2" indent="-285750"/>
            <a:r>
              <a:rPr lang="en-US" sz="1800"/>
              <a:t>Directionality check shows higher value indicative of greater disease burden</a:t>
            </a:r>
          </a:p>
          <a:p>
            <a:pPr marL="633413" lvl="2" indent="-285750"/>
            <a:r>
              <a:rPr lang="en-US" sz="1800" i="1" u="sng"/>
              <a:t>Strong future IP risk associations has been found in all </a:t>
            </a:r>
            <a:r>
              <a:rPr lang="en-US" sz="1800" i="1" u="sng" err="1"/>
              <a:t>LoBs</a:t>
            </a:r>
            <a:endParaRPr lang="en-US" sz="1800" i="1" u="sng"/>
          </a:p>
          <a:p>
            <a:pPr marL="285750" indent="-285750">
              <a:buFont typeface="Arial" panose="020B0604020202020204" pitchFamily="34" charset="0"/>
              <a:buChar char="•"/>
            </a:pPr>
            <a:r>
              <a:rPr lang="en-US"/>
              <a:t>Embedding  154 is the top embedding associated with diabetes across </a:t>
            </a:r>
            <a:r>
              <a:rPr lang="en-US" err="1"/>
              <a:t>LoBs</a:t>
            </a:r>
            <a:endParaRPr lang="en-US"/>
          </a:p>
          <a:p>
            <a:pPr marL="633413" lvl="2" indent="-285750"/>
            <a:r>
              <a:rPr lang="en-US" sz="1800"/>
              <a:t>Directionality check shows that a lower embedding value is indicative of having diabetes (Medicaid shown)</a:t>
            </a:r>
          </a:p>
        </p:txBody>
      </p:sp>
      <p:pic>
        <p:nvPicPr>
          <p:cNvPr id="5" name="Picture 4">
            <a:extLst>
              <a:ext uri="{FF2B5EF4-FFF2-40B4-BE49-F238E27FC236}">
                <a16:creationId xmlns:a16="http://schemas.microsoft.com/office/drawing/2014/main" id="{910C618F-5FC5-BAD1-9E8E-6DF52514EFC4}"/>
              </a:ext>
            </a:extLst>
          </p:cNvPr>
          <p:cNvPicPr>
            <a:picLocks noChangeAspect="1"/>
          </p:cNvPicPr>
          <p:nvPr/>
        </p:nvPicPr>
        <p:blipFill>
          <a:blip r:embed="rId6"/>
          <a:stretch>
            <a:fillRect/>
          </a:stretch>
        </p:blipFill>
        <p:spPr>
          <a:xfrm>
            <a:off x="9414457" y="1307592"/>
            <a:ext cx="2492844" cy="4901184"/>
          </a:xfrm>
          <a:prstGeom prst="rect">
            <a:avLst/>
          </a:prstGeom>
        </p:spPr>
      </p:pic>
      <p:pic>
        <p:nvPicPr>
          <p:cNvPr id="10" name="Picture 9">
            <a:extLst>
              <a:ext uri="{FF2B5EF4-FFF2-40B4-BE49-F238E27FC236}">
                <a16:creationId xmlns:a16="http://schemas.microsoft.com/office/drawing/2014/main" id="{C37536E5-BC4B-BB5F-D267-3ED184FB26CD}"/>
              </a:ext>
            </a:extLst>
          </p:cNvPr>
          <p:cNvPicPr>
            <a:picLocks noChangeAspect="1"/>
          </p:cNvPicPr>
          <p:nvPr/>
        </p:nvPicPr>
        <p:blipFill>
          <a:blip r:embed="rId7"/>
          <a:stretch>
            <a:fillRect/>
          </a:stretch>
        </p:blipFill>
        <p:spPr>
          <a:xfrm>
            <a:off x="2212024" y="5121268"/>
            <a:ext cx="5181866" cy="825542"/>
          </a:xfrm>
          <a:prstGeom prst="rect">
            <a:avLst/>
          </a:prstGeom>
        </p:spPr>
      </p:pic>
      <p:sp>
        <p:nvSpPr>
          <p:cNvPr id="3" name="Title 1">
            <a:extLst>
              <a:ext uri="{FF2B5EF4-FFF2-40B4-BE49-F238E27FC236}">
                <a16:creationId xmlns:a16="http://schemas.microsoft.com/office/drawing/2014/main" id="{F8A24FFC-28A9-8068-5122-BD0F98802AD3}"/>
              </a:ext>
            </a:extLst>
          </p:cNvPr>
          <p:cNvSpPr>
            <a:spLocks noGrp="1"/>
          </p:cNvSpPr>
          <p:nvPr>
            <p:ph type="title"/>
          </p:nvPr>
        </p:nvSpPr>
        <p:spPr>
          <a:xfrm>
            <a:off x="557929" y="530351"/>
            <a:ext cx="9667726" cy="713232"/>
          </a:xfrm>
        </p:spPr>
        <p:txBody>
          <a:bodyPr/>
          <a:lstStyle/>
          <a:p>
            <a:r>
              <a:rPr lang="en-US" sz="2400">
                <a:latin typeface="CVS Health Sans" panose="020B0504020202020204" pitchFamily="34" charset="0"/>
              </a:rPr>
              <a:t>Semantic meanings of embeddings with correlation</a:t>
            </a:r>
          </a:p>
        </p:txBody>
      </p:sp>
    </p:spTree>
    <p:extLst>
      <p:ext uri="{BB962C8B-B14F-4D97-AF65-F5344CB8AC3E}">
        <p14:creationId xmlns:p14="http://schemas.microsoft.com/office/powerpoint/2010/main" val="3322752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12593-656F-4563-E0A2-5CB5310909DD}"/>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5634F35A-496C-2C48-911A-7E495812ABCC}"/>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7" name="Object 6" hidden="1">
                        <a:extLst>
                          <a:ext uri="{FF2B5EF4-FFF2-40B4-BE49-F238E27FC236}">
                            <a16:creationId xmlns:a16="http://schemas.microsoft.com/office/drawing/2014/main" id="{5634F35A-496C-2C48-911A-7E495812ABCC}"/>
                          </a:ext>
                        </a:extLst>
                      </p:cNvPr>
                      <p:cNvPicPr/>
                      <p:nvPr/>
                    </p:nvPicPr>
                    <p:blipFill>
                      <a:blip r:embed="rId5"/>
                      <a:stretch>
                        <a:fillRect/>
                      </a:stretch>
                    </p:blipFill>
                    <p:spPr>
                      <a:xfrm>
                        <a:off x="3175" y="2480"/>
                        <a:ext cx="1588" cy="1588"/>
                      </a:xfrm>
                      <a:prstGeom prst="rect">
                        <a:avLst/>
                      </a:prstGeom>
                    </p:spPr>
                  </p:pic>
                </p:oleObj>
              </mc:Fallback>
            </mc:AlternateContent>
          </a:graphicData>
        </a:graphic>
      </p:graphicFrame>
      <p:sp>
        <p:nvSpPr>
          <p:cNvPr id="15" name="Rectangle 14">
            <a:extLst>
              <a:ext uri="{FF2B5EF4-FFF2-40B4-BE49-F238E27FC236}">
                <a16:creationId xmlns:a16="http://schemas.microsoft.com/office/drawing/2014/main" id="{8A3D52C1-9CBB-7F16-64AD-5CCFCEABA882}"/>
              </a:ext>
            </a:extLst>
          </p:cNvPr>
          <p:cNvSpPr/>
          <p:nvPr/>
        </p:nvSpPr>
        <p:spPr bwMode="gray">
          <a:xfrm>
            <a:off x="6455831" y="1874131"/>
            <a:ext cx="5347487" cy="4315793"/>
          </a:xfrm>
          <a:prstGeom prst="rect">
            <a:avLst/>
          </a:prstGeom>
          <a:solidFill>
            <a:srgbClr val="F2F2F2"/>
          </a:solidFill>
          <a:ln>
            <a:noFill/>
            <a:miter lim="800000"/>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1400">
                <a:solidFill>
                  <a:schemeClr val="tx1"/>
                </a:solidFill>
                <a:latin typeface="Times New Roman"/>
                <a:cs typeface="Times New Roman"/>
              </a:rPr>
              <a:t>The member faces a high likelihood of inpatient admission in the next three months due to several compounding clinical factors.</a:t>
            </a:r>
            <a:endParaRPr lang="en-US">
              <a:solidFill>
                <a:schemeClr val="tx1"/>
              </a:solidFill>
              <a:latin typeface="Times New Roman"/>
              <a:cs typeface="Times New Roman"/>
            </a:endParaRPr>
          </a:p>
          <a:p>
            <a:pPr marL="285750" indent="-285750">
              <a:buChar char="•"/>
            </a:pPr>
            <a:r>
              <a:rPr lang="en-US" sz="1400" b="1">
                <a:solidFill>
                  <a:schemeClr val="tx1"/>
                </a:solidFill>
                <a:latin typeface="Times New Roman"/>
                <a:cs typeface="Times New Roman"/>
              </a:rPr>
              <a:t>Complex Diabetes with Complications:</a:t>
            </a:r>
            <a:r>
              <a:rPr lang="en-US" sz="1400">
                <a:solidFill>
                  <a:schemeClr val="tx1"/>
                </a:solidFill>
                <a:latin typeface="Times New Roman"/>
                <a:cs typeface="Times New Roman"/>
              </a:rPr>
              <a:t> Uncontrolled Type 2 Diabetes, evidenced by recurrent foot ulcers, cellulitis, abscesses, and osteomyelitis, presents a continuous risk for severe infections and surgical needs. The recent inpatient stay for these issues underscores this vulnerability.</a:t>
            </a:r>
            <a:endParaRPr lang="en-US">
              <a:solidFill>
                <a:schemeClr val="tx1"/>
              </a:solidFill>
              <a:latin typeface="Times New Roman"/>
              <a:cs typeface="Times New Roman"/>
            </a:endParaRPr>
          </a:p>
          <a:p>
            <a:pPr marL="285750" indent="-285750">
              <a:buChar char="•"/>
            </a:pPr>
            <a:r>
              <a:rPr lang="en-US" sz="1400" b="1">
                <a:solidFill>
                  <a:schemeClr val="tx1"/>
                </a:solidFill>
                <a:latin typeface="Times New Roman"/>
                <a:cs typeface="Times New Roman"/>
              </a:rPr>
              <a:t>Advanced Cognitive Impairment:</a:t>
            </a:r>
            <a:r>
              <a:rPr lang="en-US" sz="1400">
                <a:solidFill>
                  <a:schemeClr val="tx1"/>
                </a:solidFill>
                <a:latin typeface="Times New Roman"/>
                <a:cs typeface="Times New Roman"/>
              </a:rPr>
              <a:t> Diagnoses of Alzheimer's disease, metabolic encephalopathy, and altered mental status increase the risk of self-neglect, medication non-adherence, falls, and inability to manage acute symptoms, often necessitating hospitalization.</a:t>
            </a:r>
            <a:endParaRPr lang="en-US">
              <a:solidFill>
                <a:schemeClr val="tx1"/>
              </a:solidFill>
            </a:endParaRPr>
          </a:p>
          <a:p>
            <a:pPr marL="285750" indent="-285750">
              <a:buChar char="•"/>
            </a:pPr>
            <a:r>
              <a:rPr lang="en-US" sz="1400" b="1">
                <a:solidFill>
                  <a:schemeClr val="tx1"/>
                </a:solidFill>
                <a:latin typeface="Times New Roman"/>
                <a:cs typeface="Times New Roman"/>
              </a:rPr>
              <a:t>Recurrent Infections and Dehydration:</a:t>
            </a:r>
            <a:r>
              <a:rPr lang="en-US" sz="1400">
                <a:solidFill>
                  <a:schemeClr val="tx1"/>
                </a:solidFill>
                <a:latin typeface="Times New Roman"/>
                <a:cs typeface="Times New Roman"/>
              </a:rPr>
              <a:t> Episodes of C. difficile enterocolitis and urinary tract infections, coupled with dehydration, indicate a fragile immune system and poor physiological reserve, making the member susceptible to acute medical crises.</a:t>
            </a:r>
            <a:endParaRPr lang="en-US">
              <a:solidFill>
                <a:schemeClr val="tx1"/>
              </a:solidFill>
              <a:latin typeface="Times New Roman"/>
              <a:cs typeface="Times New Roman"/>
            </a:endParaRPr>
          </a:p>
          <a:p>
            <a:pPr marL="285750" indent="-285750">
              <a:buChar char="•"/>
            </a:pPr>
            <a:r>
              <a:rPr lang="en-US" sz="1400" b="1">
                <a:solidFill>
                  <a:schemeClr val="tx1"/>
                </a:solidFill>
                <a:latin typeface="Times New Roman"/>
                <a:cs typeface="Times New Roman"/>
              </a:rPr>
              <a:t>Multisystemic Disease:</a:t>
            </a:r>
            <a:r>
              <a:rPr lang="en-US" sz="1400">
                <a:solidFill>
                  <a:schemeClr val="tx1"/>
                </a:solidFill>
                <a:latin typeface="Times New Roman"/>
                <a:cs typeface="Times New Roman"/>
              </a:rPr>
              <a:t> The combination of cardiovascular disease, cognitive decline, and chronic infections creates a complex clinical picture where an exacerbation in one system can quickly lead to decompensation requiring acute hospital care.</a:t>
            </a:r>
            <a:endParaRPr lang="en-US">
              <a:solidFill>
                <a:schemeClr val="tx1"/>
              </a:solidFill>
              <a:latin typeface="Times New Roman"/>
              <a:cs typeface="Times New Roman"/>
            </a:endParaRPr>
          </a:p>
        </p:txBody>
      </p:sp>
      <p:sp>
        <p:nvSpPr>
          <p:cNvPr id="35" name="Rectangle 34">
            <a:extLst>
              <a:ext uri="{FF2B5EF4-FFF2-40B4-BE49-F238E27FC236}">
                <a16:creationId xmlns:a16="http://schemas.microsoft.com/office/drawing/2014/main" id="{A6313C09-6CD6-493B-3126-4DF123BEE28D}"/>
              </a:ext>
            </a:extLst>
          </p:cNvPr>
          <p:cNvSpPr/>
          <p:nvPr/>
        </p:nvSpPr>
        <p:spPr bwMode="gray">
          <a:xfrm>
            <a:off x="6505562" y="1432455"/>
            <a:ext cx="2391769" cy="441413"/>
          </a:xfrm>
          <a:prstGeom prst="rect">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1500" b="1">
                <a:solidFill>
                  <a:srgbClr val="F2F2F2"/>
                </a:solidFill>
              </a:rPr>
              <a:t>Reasoning narrative:</a:t>
            </a:r>
          </a:p>
        </p:txBody>
      </p:sp>
      <p:pic>
        <p:nvPicPr>
          <p:cNvPr id="11" name="Graphic 10" descr="Left Brain with solid fill">
            <a:extLst>
              <a:ext uri="{FF2B5EF4-FFF2-40B4-BE49-F238E27FC236}">
                <a16:creationId xmlns:a16="http://schemas.microsoft.com/office/drawing/2014/main" id="{B13BAF25-CB13-3AE7-631C-C60EE51850D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33155" y="3293003"/>
            <a:ext cx="658726" cy="645588"/>
          </a:xfrm>
          <a:prstGeom prst="rect">
            <a:avLst/>
          </a:prstGeom>
        </p:spPr>
      </p:pic>
      <p:sp>
        <p:nvSpPr>
          <p:cNvPr id="16" name="TextBox 15">
            <a:extLst>
              <a:ext uri="{FF2B5EF4-FFF2-40B4-BE49-F238E27FC236}">
                <a16:creationId xmlns:a16="http://schemas.microsoft.com/office/drawing/2014/main" id="{FF255C01-B296-2C42-7BBB-19A00567C004}"/>
              </a:ext>
            </a:extLst>
          </p:cNvPr>
          <p:cNvSpPr txBox="1"/>
          <p:nvPr/>
        </p:nvSpPr>
        <p:spPr>
          <a:xfrm>
            <a:off x="5001470" y="3936665"/>
            <a:ext cx="1125063" cy="830997"/>
          </a:xfrm>
          <a:prstGeom prst="rect">
            <a:avLst/>
          </a:prstGeom>
          <a:noFill/>
        </p:spPr>
        <p:txBody>
          <a:bodyPr wrap="square" lIns="91440" tIns="45720" rIns="91440" bIns="45720" rtlCol="0" anchor="t">
            <a:spAutoFit/>
          </a:bodyPr>
          <a:lstStyle/>
          <a:p>
            <a:pPr algn="ctr"/>
            <a:r>
              <a:rPr lang="en-US" sz="1600" b="1">
                <a:solidFill>
                  <a:srgbClr val="0A4A89"/>
                </a:solidFill>
                <a:ea typeface="+mn-lt"/>
                <a:cs typeface="+mn-lt"/>
              </a:rPr>
              <a:t>Gemini Flash 2.5 &amp; prompt </a:t>
            </a:r>
            <a:endParaRPr lang="en-US"/>
          </a:p>
        </p:txBody>
      </p:sp>
      <p:sp>
        <p:nvSpPr>
          <p:cNvPr id="22" name="Round Single Corner Rectangle 51">
            <a:extLst>
              <a:ext uri="{FF2B5EF4-FFF2-40B4-BE49-F238E27FC236}">
                <a16:creationId xmlns:a16="http://schemas.microsoft.com/office/drawing/2014/main" id="{E04CE586-6FAC-120B-65D1-70E6A7D9D6C9}"/>
              </a:ext>
            </a:extLst>
          </p:cNvPr>
          <p:cNvSpPr/>
          <p:nvPr/>
        </p:nvSpPr>
        <p:spPr bwMode="auto">
          <a:xfrm rot="16200000">
            <a:off x="-316570" y="2141377"/>
            <a:ext cx="2265689" cy="820968"/>
          </a:xfrm>
          <a:prstGeom prst="round1Rect">
            <a:avLst>
              <a:gd name="adj" fmla="val 0"/>
            </a:avLst>
          </a:prstGeom>
          <a:solidFill>
            <a:srgbClr val="0A4B8C"/>
          </a:solidFill>
          <a:ln w="6350" cap="flat" cmpd="sng" algn="ctr">
            <a:noFill/>
            <a:prstDash val="solid"/>
            <a:round/>
            <a:headEnd type="none" w="med" len="med"/>
            <a:tailEnd type="none" w="med" len="med"/>
          </a:ln>
          <a:effectLst>
            <a:outerShdw blurRad="50800" dist="38100" dir="5400000" algn="t" rotWithShape="0">
              <a:prstClr val="black">
                <a:alpha val="40000"/>
              </a:prstClr>
            </a:outerShdw>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214" tIns="45607" rIns="91214" bIns="45607" numCol="1" rtlCol="0" anchor="ctr" anchorCtr="0" compatLnSpc="1">
            <a:prstTxWarp prst="textNoShape">
              <a:avLst/>
            </a:prstTxWarp>
            <a:normAutofit/>
          </a:bodyPr>
          <a:lstStyle/>
          <a:p>
            <a:pPr algn="ctr">
              <a:defRPr/>
            </a:pPr>
            <a:r>
              <a:rPr lang="en-US" sz="1600" b="1">
                <a:solidFill>
                  <a:srgbClr val="FFFFFF"/>
                </a:solidFill>
              </a:rPr>
              <a:t>Claim history into TE</a:t>
            </a:r>
            <a:endParaRPr lang="en-US" sz="1600"/>
          </a:p>
        </p:txBody>
      </p:sp>
      <p:sp>
        <p:nvSpPr>
          <p:cNvPr id="25" name="Rectangle 24">
            <a:extLst>
              <a:ext uri="{FF2B5EF4-FFF2-40B4-BE49-F238E27FC236}">
                <a16:creationId xmlns:a16="http://schemas.microsoft.com/office/drawing/2014/main" id="{CBB44C60-AFB9-0A0E-5A1F-9EC3F0E52479}"/>
              </a:ext>
            </a:extLst>
          </p:cNvPr>
          <p:cNvSpPr/>
          <p:nvPr/>
        </p:nvSpPr>
        <p:spPr bwMode="gray">
          <a:xfrm>
            <a:off x="1220680" y="1428468"/>
            <a:ext cx="3359373" cy="2252501"/>
          </a:xfrm>
          <a:prstGeom prst="rect">
            <a:avLst/>
          </a:prstGeom>
          <a:solidFill>
            <a:srgbClr val="F2F2F2"/>
          </a:solidFill>
          <a:ln>
            <a:noFill/>
            <a:miter lim="800000"/>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1300">
                <a:solidFill>
                  <a:srgbClr val="000000"/>
                </a:solidFill>
              </a:rPr>
              <a:t>Service Date: 2022-12-30</a:t>
            </a:r>
          </a:p>
          <a:p>
            <a:r>
              <a:rPr lang="en-US" sz="1300">
                <a:solidFill>
                  <a:schemeClr val="tx1"/>
                </a:solidFill>
              </a:rPr>
              <a:t>icd9_dx_cd: I10,G93.40</a:t>
            </a:r>
          </a:p>
          <a:p>
            <a:r>
              <a:rPr lang="en-US" sz="1300" err="1">
                <a:solidFill>
                  <a:schemeClr val="tx1"/>
                </a:solidFill>
              </a:rPr>
              <a:t>prcdr_cd</a:t>
            </a:r>
            <a:r>
              <a:rPr lang="en-US" sz="1300">
                <a:solidFill>
                  <a:schemeClr val="tx1"/>
                </a:solidFill>
              </a:rPr>
              <a:t>: 84443,82607,82746,84439</a:t>
            </a:r>
          </a:p>
          <a:p>
            <a:r>
              <a:rPr lang="en-US" sz="1300" err="1">
                <a:solidFill>
                  <a:schemeClr val="tx1"/>
                </a:solidFill>
              </a:rPr>
              <a:t>hcfa_plc_srv_cd</a:t>
            </a:r>
            <a:r>
              <a:rPr lang="en-US" sz="1300">
                <a:solidFill>
                  <a:schemeClr val="tx1"/>
                </a:solidFill>
              </a:rPr>
              <a:t>: 81</a:t>
            </a:r>
          </a:p>
          <a:p>
            <a:r>
              <a:rPr lang="en-US" sz="1300">
                <a:solidFill>
                  <a:schemeClr val="tx1"/>
                </a:solidFill>
              </a:rPr>
              <a:t>taxonomy codes: 291U00000X</a:t>
            </a:r>
          </a:p>
          <a:p>
            <a:r>
              <a:rPr lang="en-US" sz="1300">
                <a:solidFill>
                  <a:schemeClr val="tx1"/>
                </a:solidFill>
              </a:rPr>
              <a:t>...</a:t>
            </a:r>
          </a:p>
          <a:p>
            <a:r>
              <a:rPr lang="en-US" sz="1300">
                <a:solidFill>
                  <a:schemeClr val="tx1"/>
                </a:solidFill>
              </a:rPr>
              <a:t>Service Date: 2023-01-05</a:t>
            </a:r>
          </a:p>
          <a:p>
            <a:r>
              <a:rPr lang="en-US" sz="1300">
                <a:solidFill>
                  <a:schemeClr val="tx1"/>
                </a:solidFill>
              </a:rPr>
              <a:t>icd9_dx_cd: I10,E11.621</a:t>
            </a:r>
          </a:p>
          <a:p>
            <a:r>
              <a:rPr lang="en-US" sz="1300" err="1">
                <a:solidFill>
                  <a:schemeClr val="tx1"/>
                </a:solidFill>
              </a:rPr>
              <a:t>prcdr_cd</a:t>
            </a:r>
            <a:r>
              <a:rPr lang="en-US" sz="1300">
                <a:solidFill>
                  <a:schemeClr val="tx1"/>
                </a:solidFill>
              </a:rPr>
              <a:t>: 99309</a:t>
            </a:r>
          </a:p>
          <a:p>
            <a:r>
              <a:rPr lang="en-US" sz="1300" err="1">
                <a:solidFill>
                  <a:schemeClr val="tx1"/>
                </a:solidFill>
              </a:rPr>
              <a:t>hcfa_plc_srv_cd</a:t>
            </a:r>
            <a:r>
              <a:rPr lang="en-US" sz="1300">
                <a:solidFill>
                  <a:schemeClr val="tx1"/>
                </a:solidFill>
              </a:rPr>
              <a:t>: 31</a:t>
            </a:r>
          </a:p>
          <a:p>
            <a:r>
              <a:rPr lang="en-US" sz="1300">
                <a:solidFill>
                  <a:schemeClr val="tx1"/>
                </a:solidFill>
              </a:rPr>
              <a:t>…</a:t>
            </a:r>
          </a:p>
        </p:txBody>
      </p:sp>
      <p:sp>
        <p:nvSpPr>
          <p:cNvPr id="26" name="Round Single Corner Rectangle 51">
            <a:extLst>
              <a:ext uri="{FF2B5EF4-FFF2-40B4-BE49-F238E27FC236}">
                <a16:creationId xmlns:a16="http://schemas.microsoft.com/office/drawing/2014/main" id="{26C6AFC9-9FEE-7411-A674-A6176E3E1AAF}"/>
              </a:ext>
            </a:extLst>
          </p:cNvPr>
          <p:cNvSpPr/>
          <p:nvPr/>
        </p:nvSpPr>
        <p:spPr bwMode="auto">
          <a:xfrm rot="16200000">
            <a:off x="-218543" y="4751926"/>
            <a:ext cx="2056951" cy="830222"/>
          </a:xfrm>
          <a:prstGeom prst="round1Rect">
            <a:avLst>
              <a:gd name="adj" fmla="val 0"/>
            </a:avLst>
          </a:prstGeom>
          <a:solidFill>
            <a:srgbClr val="0A4B8C"/>
          </a:solidFill>
          <a:ln w="6350" cap="flat" cmpd="sng" algn="ctr">
            <a:noFill/>
            <a:prstDash val="solid"/>
            <a:round/>
            <a:headEnd type="none" w="med" len="med"/>
            <a:tailEnd type="none" w="med" len="med"/>
          </a:ln>
          <a:effectLst>
            <a:outerShdw blurRad="50800" dist="38100" dir="5400000" algn="t" rotWithShape="0">
              <a:prstClr val="black">
                <a:alpha val="40000"/>
              </a:prstClr>
            </a:outerShdw>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214" tIns="45607" rIns="91214" bIns="45607" numCol="1" rtlCol="0" anchor="ctr" anchorCtr="0" compatLnSpc="1">
            <a:prstTxWarp prst="textNoShape">
              <a:avLst/>
            </a:prstTxWarp>
            <a:normAutofit/>
          </a:bodyPr>
          <a:lstStyle/>
          <a:p>
            <a:pPr algn="ctr">
              <a:defRPr/>
            </a:pPr>
            <a:r>
              <a:rPr lang="en-US" sz="1300" b="1">
                <a:solidFill>
                  <a:srgbClr val="FFFFFF"/>
                </a:solidFill>
              </a:rPr>
              <a:t>Other individualized top non-TE features by SHAP</a:t>
            </a:r>
          </a:p>
        </p:txBody>
      </p:sp>
      <p:sp>
        <p:nvSpPr>
          <p:cNvPr id="27" name="Rectangle 26">
            <a:extLst>
              <a:ext uri="{FF2B5EF4-FFF2-40B4-BE49-F238E27FC236}">
                <a16:creationId xmlns:a16="http://schemas.microsoft.com/office/drawing/2014/main" id="{67831DC4-6A0A-5A0B-2726-0782519A6FA5}"/>
              </a:ext>
            </a:extLst>
          </p:cNvPr>
          <p:cNvSpPr/>
          <p:nvPr/>
        </p:nvSpPr>
        <p:spPr bwMode="gray">
          <a:xfrm>
            <a:off x="1232748" y="4142811"/>
            <a:ext cx="3348150" cy="2048116"/>
          </a:xfrm>
          <a:prstGeom prst="rect">
            <a:avLst/>
          </a:prstGeom>
          <a:solidFill>
            <a:srgbClr val="F2F2F2"/>
          </a:solidFill>
          <a:ln>
            <a:noFill/>
            <a:miter lim="800000"/>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1300">
                <a:solidFill>
                  <a:schemeClr val="tx1"/>
                </a:solidFill>
              </a:rPr>
              <a:t># of claim lines in the past 6 months: 20.86, </a:t>
            </a:r>
          </a:p>
          <a:p>
            <a:r>
              <a:rPr lang="en-US" sz="1300">
                <a:solidFill>
                  <a:schemeClr val="tx1"/>
                </a:solidFill>
              </a:rPr>
              <a:t>age: 80.0, </a:t>
            </a:r>
          </a:p>
          <a:p>
            <a:r>
              <a:rPr lang="en-US" sz="1300">
                <a:solidFill>
                  <a:schemeClr val="tx1"/>
                </a:solidFill>
              </a:rPr>
              <a:t># of PCP visits in the past 3 months: 1.0, </a:t>
            </a:r>
          </a:p>
          <a:p>
            <a:r>
              <a:rPr lang="en-US" sz="1300">
                <a:solidFill>
                  <a:schemeClr val="tx1"/>
                </a:solidFill>
              </a:rPr>
              <a:t># of days from recent </a:t>
            </a:r>
            <a:r>
              <a:rPr lang="en-US" sz="1300" err="1">
                <a:solidFill>
                  <a:schemeClr val="tx1"/>
                </a:solidFill>
              </a:rPr>
              <a:t>rx</a:t>
            </a:r>
            <a:r>
              <a:rPr lang="en-US" sz="1300">
                <a:solidFill>
                  <a:schemeClr val="tx1"/>
                </a:solidFill>
              </a:rPr>
              <a:t> to </a:t>
            </a:r>
            <a:r>
              <a:rPr lang="en-US" sz="1300" err="1">
                <a:solidFill>
                  <a:schemeClr val="tx1"/>
                </a:solidFill>
              </a:rPr>
              <a:t>index_dt</a:t>
            </a:r>
            <a:r>
              <a:rPr lang="en-US" sz="1300">
                <a:solidFill>
                  <a:schemeClr val="tx1"/>
                </a:solidFill>
              </a:rPr>
              <a:t>: 20.0, Dementia condition: 1.0</a:t>
            </a:r>
          </a:p>
          <a:p>
            <a:r>
              <a:rPr lang="en-US" sz="1300">
                <a:solidFill>
                  <a:schemeClr val="tx1"/>
                </a:solidFill>
              </a:rPr>
              <a:t>…</a:t>
            </a:r>
          </a:p>
        </p:txBody>
      </p:sp>
      <p:sp>
        <p:nvSpPr>
          <p:cNvPr id="3" name="TextBox 2">
            <a:extLst>
              <a:ext uri="{FF2B5EF4-FFF2-40B4-BE49-F238E27FC236}">
                <a16:creationId xmlns:a16="http://schemas.microsoft.com/office/drawing/2014/main" id="{DF2841ED-3A74-7BD9-B08E-1E06C8BB8C07}"/>
              </a:ext>
            </a:extLst>
          </p:cNvPr>
          <p:cNvSpPr txBox="1"/>
          <p:nvPr/>
        </p:nvSpPr>
        <p:spPr>
          <a:xfrm>
            <a:off x="390585" y="3689957"/>
            <a:ext cx="4189103" cy="400110"/>
          </a:xfrm>
          <a:prstGeom prst="rect">
            <a:avLst/>
          </a:prstGeom>
          <a:noFill/>
        </p:spPr>
        <p:txBody>
          <a:bodyPr wrap="square" lIns="91440" tIns="45720" rIns="91440" bIns="45720" rtlCol="0" anchor="t">
            <a:spAutoFit/>
          </a:bodyPr>
          <a:lstStyle/>
          <a:p>
            <a:pPr algn="ctr"/>
            <a:r>
              <a:rPr lang="en-US" sz="2000" b="1">
                <a:solidFill>
                  <a:srgbClr val="0A4A89"/>
                </a:solidFill>
                <a:ea typeface="+mn-lt"/>
                <a:cs typeface="+mn-lt"/>
              </a:rPr>
              <a:t>+</a:t>
            </a:r>
            <a:endParaRPr lang="en-US" sz="2000"/>
          </a:p>
        </p:txBody>
      </p:sp>
      <p:cxnSp>
        <p:nvCxnSpPr>
          <p:cNvPr id="4" name="Straight Arrow Connector 3">
            <a:extLst>
              <a:ext uri="{FF2B5EF4-FFF2-40B4-BE49-F238E27FC236}">
                <a16:creationId xmlns:a16="http://schemas.microsoft.com/office/drawing/2014/main" id="{F41AC4FE-9153-391D-4D8B-EB5611D543BB}"/>
              </a:ext>
            </a:extLst>
          </p:cNvPr>
          <p:cNvCxnSpPr>
            <a:cxnSpLocks/>
          </p:cNvCxnSpPr>
          <p:nvPr/>
        </p:nvCxnSpPr>
        <p:spPr>
          <a:xfrm>
            <a:off x="4599040" y="3883897"/>
            <a:ext cx="370242" cy="0"/>
          </a:xfrm>
          <a:prstGeom prst="straightConnector1">
            <a:avLst/>
          </a:prstGeom>
          <a:ln w="28575" cmpd="sng">
            <a:solidFill>
              <a:srgbClr val="0A4A89"/>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3E87F121-BD90-3884-AF62-B389D5670263}"/>
              </a:ext>
            </a:extLst>
          </p:cNvPr>
          <p:cNvCxnSpPr>
            <a:cxnSpLocks/>
          </p:cNvCxnSpPr>
          <p:nvPr/>
        </p:nvCxnSpPr>
        <p:spPr>
          <a:xfrm>
            <a:off x="6068836" y="3883980"/>
            <a:ext cx="370242" cy="0"/>
          </a:xfrm>
          <a:prstGeom prst="straightConnector1">
            <a:avLst/>
          </a:prstGeom>
          <a:ln w="28575" cmpd="sng">
            <a:solidFill>
              <a:srgbClr val="0A4A89"/>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F6B8D4C-CC36-F888-91D6-FE1C81C68819}"/>
              </a:ext>
            </a:extLst>
          </p:cNvPr>
          <p:cNvSpPr txBox="1"/>
          <p:nvPr/>
        </p:nvSpPr>
        <p:spPr>
          <a:xfrm>
            <a:off x="-27164" y="431654"/>
            <a:ext cx="6096000" cy="461665"/>
          </a:xfrm>
          <a:prstGeom prst="rect">
            <a:avLst/>
          </a:prstGeom>
          <a:noFill/>
        </p:spPr>
        <p:txBody>
          <a:bodyPr wrap="square">
            <a:spAutoFit/>
          </a:bodyPr>
          <a:lstStyle/>
          <a:p>
            <a:pPr algn="ctr"/>
            <a:r>
              <a:rPr lang="en-US" sz="2400" b="1">
                <a:solidFill>
                  <a:schemeClr val="tx2"/>
                </a:solidFill>
                <a:latin typeface="CVS Health Sans" panose="020B0504020202020204" pitchFamily="34" charset="0"/>
              </a:rPr>
              <a:t>Primary driver of prediction – LLM</a:t>
            </a:r>
          </a:p>
        </p:txBody>
      </p:sp>
    </p:spTree>
    <p:extLst>
      <p:ext uri="{BB962C8B-B14F-4D97-AF65-F5344CB8AC3E}">
        <p14:creationId xmlns:p14="http://schemas.microsoft.com/office/powerpoint/2010/main" val="23950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4034E-8144-3797-95AD-D0B59712A96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8387DC7-45CF-42C5-799E-9652A453A336}"/>
              </a:ext>
            </a:extLst>
          </p:cNvPr>
          <p:cNvSpPr/>
          <p:nvPr/>
        </p:nvSpPr>
        <p:spPr bwMode="gray">
          <a:xfrm>
            <a:off x="392168" y="1343303"/>
            <a:ext cx="11218779" cy="4957461"/>
          </a:xfrm>
          <a:prstGeom prst="rect">
            <a:avLst/>
          </a:prstGeom>
          <a:solidFill>
            <a:srgbClr val="F2F2F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7" name="Object 6" hidden="1">
            <a:extLst>
              <a:ext uri="{FF2B5EF4-FFF2-40B4-BE49-F238E27FC236}">
                <a16:creationId xmlns:a16="http://schemas.microsoft.com/office/drawing/2014/main" id="{281D56E3-EB52-6E06-15F6-2743DACACB9D}"/>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7" name="Object 6" hidden="1">
                        <a:extLst>
                          <a:ext uri="{FF2B5EF4-FFF2-40B4-BE49-F238E27FC236}">
                            <a16:creationId xmlns:a16="http://schemas.microsoft.com/office/drawing/2014/main" id="{281D56E3-EB52-6E06-15F6-2743DACACB9D}"/>
                          </a:ext>
                        </a:extLst>
                      </p:cNvPr>
                      <p:cNvPicPr/>
                      <p:nvPr/>
                    </p:nvPicPr>
                    <p:blipFill>
                      <a:blip r:embed="rId5"/>
                      <a:stretch>
                        <a:fillRect/>
                      </a:stretch>
                    </p:blipFill>
                    <p:spPr>
                      <a:xfrm>
                        <a:off x="3175" y="2480"/>
                        <a:ext cx="1588" cy="1588"/>
                      </a:xfrm>
                      <a:prstGeom prst="rect">
                        <a:avLst/>
                      </a:prstGeom>
                    </p:spPr>
                  </p:pic>
                </p:oleObj>
              </mc:Fallback>
            </mc:AlternateContent>
          </a:graphicData>
        </a:graphic>
      </p:graphicFrame>
      <p:sp>
        <p:nvSpPr>
          <p:cNvPr id="15" name="Content Placeholder 2">
            <a:extLst>
              <a:ext uri="{FF2B5EF4-FFF2-40B4-BE49-F238E27FC236}">
                <a16:creationId xmlns:a16="http://schemas.microsoft.com/office/drawing/2014/main" id="{CB038E08-F2C7-8D10-08D8-9BBC53C50C0A}"/>
              </a:ext>
            </a:extLst>
          </p:cNvPr>
          <p:cNvSpPr>
            <a:spLocks noGrp="1"/>
          </p:cNvSpPr>
          <p:nvPr>
            <p:ph sz="half" idx="1"/>
          </p:nvPr>
        </p:nvSpPr>
        <p:spPr>
          <a:xfrm>
            <a:off x="773433" y="1486322"/>
            <a:ext cx="5321844" cy="1067863"/>
          </a:xfrm>
        </p:spPr>
        <p:txBody>
          <a:bodyPr vert="horz" lIns="0" tIns="0" rIns="0" bIns="0" rtlCol="0" anchor="t">
            <a:noAutofit/>
          </a:bodyPr>
          <a:lstStyle/>
          <a:p>
            <a:pPr marL="285750" indent="-285750">
              <a:buFont typeface="Arial" panose="020B0604020202020204" pitchFamily="34" charset="0"/>
              <a:buChar char="•"/>
            </a:pPr>
            <a:r>
              <a:rPr lang="en-US" sz="1400"/>
              <a:t>Key clinical concepts are captured well over the architecture</a:t>
            </a:r>
          </a:p>
          <a:p>
            <a:pPr marL="633095" lvl="2" indent="-285750"/>
            <a:r>
              <a:rPr lang="en-US" sz="1400"/>
              <a:t>The concept information accumulates over layers and the capability varied across the clinical concepts</a:t>
            </a:r>
          </a:p>
          <a:p>
            <a:pPr marL="285750" indent="-285750">
              <a:buFont typeface="Arial" panose="020B0604020202020204" pitchFamily="34" charset="0"/>
              <a:buChar char="•"/>
            </a:pPr>
            <a:endParaRPr lang="en-US" sz="1400" b="0"/>
          </a:p>
        </p:txBody>
      </p:sp>
      <p:sp>
        <p:nvSpPr>
          <p:cNvPr id="4" name="TextBox 4">
            <a:extLst>
              <a:ext uri="{FF2B5EF4-FFF2-40B4-BE49-F238E27FC236}">
                <a16:creationId xmlns:a16="http://schemas.microsoft.com/office/drawing/2014/main" id="{4B4C0173-AE7A-6133-80B7-253BF60B4CAE}"/>
              </a:ext>
            </a:extLst>
          </p:cNvPr>
          <p:cNvSpPr txBox="1"/>
          <p:nvPr/>
        </p:nvSpPr>
        <p:spPr>
          <a:xfrm>
            <a:off x="557404" y="5581104"/>
            <a:ext cx="5756556" cy="64633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solidFill>
                  <a:schemeClr val="tx2"/>
                </a:solidFill>
              </a:rPr>
              <a:t>Figure 1: Performance of the transformer encoding different clinical concepts, indicated by probe classifier AUC-PR in predicting the presence of a concept within a Medicaid sampled population. </a:t>
            </a:r>
          </a:p>
        </p:txBody>
      </p:sp>
      <p:sp>
        <p:nvSpPr>
          <p:cNvPr id="11" name="TextBox 4">
            <a:extLst>
              <a:ext uri="{FF2B5EF4-FFF2-40B4-BE49-F238E27FC236}">
                <a16:creationId xmlns:a16="http://schemas.microsoft.com/office/drawing/2014/main" id="{BFCB6A46-36E3-F8AA-70C9-D8527A55EB73}"/>
              </a:ext>
            </a:extLst>
          </p:cNvPr>
          <p:cNvSpPr txBox="1"/>
          <p:nvPr/>
        </p:nvSpPr>
        <p:spPr>
          <a:xfrm>
            <a:off x="6283252" y="5581249"/>
            <a:ext cx="5210511" cy="46166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solidFill>
                  <a:schemeClr val="tx2"/>
                </a:solidFill>
              </a:rPr>
              <a:t>Figure 2: Cosine similarity between clinical concept vectors, indicating how much specialized information each layer encodes for a concept. </a:t>
            </a:r>
          </a:p>
        </p:txBody>
      </p:sp>
      <p:grpSp>
        <p:nvGrpSpPr>
          <p:cNvPr id="17" name="Group 16">
            <a:extLst>
              <a:ext uri="{FF2B5EF4-FFF2-40B4-BE49-F238E27FC236}">
                <a16:creationId xmlns:a16="http://schemas.microsoft.com/office/drawing/2014/main" id="{F2FB4F20-ADEB-3FD2-52CE-37D3DFC0856D}"/>
              </a:ext>
            </a:extLst>
          </p:cNvPr>
          <p:cNvGrpSpPr/>
          <p:nvPr/>
        </p:nvGrpSpPr>
        <p:grpSpPr>
          <a:xfrm>
            <a:off x="435341" y="2551326"/>
            <a:ext cx="5848042" cy="3026791"/>
            <a:chOff x="433753" y="2551325"/>
            <a:chExt cx="5848042" cy="3026791"/>
          </a:xfrm>
        </p:grpSpPr>
        <p:pic>
          <p:nvPicPr>
            <p:cNvPr id="14" name="Picture 13" descr="A graph with different colored lines and stars&#10;&#10;AI-generated content may be incorrect.">
              <a:extLst>
                <a:ext uri="{FF2B5EF4-FFF2-40B4-BE49-F238E27FC236}">
                  <a16:creationId xmlns:a16="http://schemas.microsoft.com/office/drawing/2014/main" id="{3248C96D-FD6A-B801-B09C-1E74BAA93FBF}"/>
                </a:ext>
              </a:extLst>
            </p:cNvPr>
            <p:cNvPicPr>
              <a:picLocks noChangeAspect="1"/>
            </p:cNvPicPr>
            <p:nvPr/>
          </p:nvPicPr>
          <p:blipFill>
            <a:blip r:embed="rId6"/>
            <a:stretch>
              <a:fillRect/>
            </a:stretch>
          </p:blipFill>
          <p:spPr>
            <a:xfrm>
              <a:off x="439147" y="2551325"/>
              <a:ext cx="5842648" cy="2755745"/>
            </a:xfrm>
            <a:prstGeom prst="rect">
              <a:avLst/>
            </a:prstGeom>
          </p:spPr>
        </p:pic>
        <p:pic>
          <p:nvPicPr>
            <p:cNvPr id="16" name="Picture 15" descr="A white background with black and white clouds&#10;&#10;AI-generated content may be incorrect.">
              <a:extLst>
                <a:ext uri="{FF2B5EF4-FFF2-40B4-BE49-F238E27FC236}">
                  <a16:creationId xmlns:a16="http://schemas.microsoft.com/office/drawing/2014/main" id="{250907D4-CE14-5D30-D066-C42FCA0ED1DC}"/>
                </a:ext>
              </a:extLst>
            </p:cNvPr>
            <p:cNvPicPr>
              <a:picLocks noChangeAspect="1"/>
            </p:cNvPicPr>
            <p:nvPr/>
          </p:nvPicPr>
          <p:blipFill>
            <a:blip r:embed="rId7"/>
            <a:stretch>
              <a:fillRect/>
            </a:stretch>
          </p:blipFill>
          <p:spPr>
            <a:xfrm>
              <a:off x="433753" y="5294332"/>
              <a:ext cx="5845530" cy="283784"/>
            </a:xfrm>
            <a:prstGeom prst="rect">
              <a:avLst/>
            </a:prstGeom>
          </p:spPr>
        </p:pic>
      </p:grpSp>
      <p:grpSp>
        <p:nvGrpSpPr>
          <p:cNvPr id="21" name="Group 20">
            <a:extLst>
              <a:ext uri="{FF2B5EF4-FFF2-40B4-BE49-F238E27FC236}">
                <a16:creationId xmlns:a16="http://schemas.microsoft.com/office/drawing/2014/main" id="{F573D264-9182-C695-A162-D602B5F0E8BB}"/>
              </a:ext>
            </a:extLst>
          </p:cNvPr>
          <p:cNvGrpSpPr/>
          <p:nvPr/>
        </p:nvGrpSpPr>
        <p:grpSpPr>
          <a:xfrm>
            <a:off x="6316582" y="2612692"/>
            <a:ext cx="5293871" cy="2904958"/>
            <a:chOff x="6314993" y="2584927"/>
            <a:chExt cx="5293871" cy="2904958"/>
          </a:xfrm>
        </p:grpSpPr>
        <p:pic>
          <p:nvPicPr>
            <p:cNvPr id="5" name="Picture 4" descr="A graph of different colored lines&#10;&#10;AI-generated content may be incorrect.">
              <a:extLst>
                <a:ext uri="{FF2B5EF4-FFF2-40B4-BE49-F238E27FC236}">
                  <a16:creationId xmlns:a16="http://schemas.microsoft.com/office/drawing/2014/main" id="{6BC2B734-B2EA-91D3-F50B-A2E3712640DF}"/>
                </a:ext>
              </a:extLst>
            </p:cNvPr>
            <p:cNvPicPr>
              <a:picLocks noChangeAspect="1"/>
            </p:cNvPicPr>
            <p:nvPr/>
          </p:nvPicPr>
          <p:blipFill>
            <a:blip r:embed="rId8"/>
            <a:stretch>
              <a:fillRect/>
            </a:stretch>
          </p:blipFill>
          <p:spPr>
            <a:xfrm>
              <a:off x="6321272" y="2584927"/>
              <a:ext cx="5287592" cy="2667785"/>
            </a:xfrm>
            <a:prstGeom prst="rect">
              <a:avLst/>
            </a:prstGeom>
          </p:spPr>
        </p:pic>
        <p:pic>
          <p:nvPicPr>
            <p:cNvPr id="20" name="Picture 19" descr="A white background with black and white clouds&#10;&#10;AI-generated content may be incorrect.">
              <a:extLst>
                <a:ext uri="{FF2B5EF4-FFF2-40B4-BE49-F238E27FC236}">
                  <a16:creationId xmlns:a16="http://schemas.microsoft.com/office/drawing/2014/main" id="{00ADDF78-A8E8-9315-0F47-F4A9DC3E9523}"/>
                </a:ext>
              </a:extLst>
            </p:cNvPr>
            <p:cNvPicPr>
              <a:picLocks noChangeAspect="1"/>
            </p:cNvPicPr>
            <p:nvPr/>
          </p:nvPicPr>
          <p:blipFill>
            <a:blip r:embed="rId7"/>
            <a:stretch>
              <a:fillRect/>
            </a:stretch>
          </p:blipFill>
          <p:spPr>
            <a:xfrm>
              <a:off x="6314993" y="5233866"/>
              <a:ext cx="5280976" cy="256019"/>
            </a:xfrm>
            <a:prstGeom prst="rect">
              <a:avLst/>
            </a:prstGeom>
          </p:spPr>
        </p:pic>
      </p:grpSp>
      <p:sp>
        <p:nvSpPr>
          <p:cNvPr id="23" name="Content Placeholder 2">
            <a:extLst>
              <a:ext uri="{FF2B5EF4-FFF2-40B4-BE49-F238E27FC236}">
                <a16:creationId xmlns:a16="http://schemas.microsoft.com/office/drawing/2014/main" id="{E92D6F1B-E44D-0DF1-84BD-3B43C440B829}"/>
              </a:ext>
            </a:extLst>
          </p:cNvPr>
          <p:cNvSpPr txBox="1">
            <a:spLocks/>
          </p:cNvSpPr>
          <p:nvPr/>
        </p:nvSpPr>
        <p:spPr bwMode="gray">
          <a:xfrm>
            <a:off x="6312239" y="1490641"/>
            <a:ext cx="5321844" cy="1067863"/>
          </a:xfrm>
          <a:prstGeom prst="rect">
            <a:avLst/>
          </a:prstGeom>
        </p:spPr>
        <p:txBody>
          <a:bodyPr vert="horz" lIns="0" tIns="0" rIns="0" bIns="0" rtlCol="0" anchor="t">
            <a:noAutofit/>
          </a:bodyPr>
          <a:lstStyle>
            <a:lvl1pPr marL="0" indent="0" algn="l" defTabSz="457200" rtl="0" eaLnBrk="1" fontAlgn="ctr" latinLnBrk="0" hangingPunct="1">
              <a:lnSpc>
                <a:spcPct val="100000"/>
              </a:lnSpc>
              <a:spcBef>
                <a:spcPts val="1800"/>
              </a:spcBef>
              <a:buClr>
                <a:schemeClr val="tx1"/>
              </a:buClr>
              <a:buFont typeface="Arial"/>
              <a:buNone/>
              <a:defRPr lang="en-US" sz="1800" b="1" kern="1200" cap="none" baseline="0" dirty="0">
                <a:solidFill>
                  <a:schemeClr val="tx2"/>
                </a:solidFill>
                <a:latin typeface="+mn-lt"/>
                <a:ea typeface="+mn-ea"/>
                <a:cs typeface="+mn-cs"/>
              </a:defRPr>
            </a:lvl1pPr>
            <a:lvl2pPr marL="0" indent="0" algn="l" defTabSz="457200" rtl="0" eaLnBrk="1" fontAlgn="ctr" latinLnBrk="0" hangingPunct="1">
              <a:lnSpc>
                <a:spcPct val="100000"/>
              </a:lnSpc>
              <a:spcBef>
                <a:spcPts val="1200"/>
              </a:spcBef>
              <a:buClr>
                <a:schemeClr val="tx1"/>
              </a:buClr>
              <a:buFont typeface="Arial"/>
              <a:buNone/>
              <a:defRPr lang="en-US" sz="1300" kern="1200" dirty="0" smtClean="0">
                <a:solidFill>
                  <a:schemeClr val="tx2"/>
                </a:solidFill>
                <a:latin typeface="+mn-lt"/>
                <a:ea typeface="+mn-ea"/>
                <a:cs typeface="+mn-cs"/>
              </a:defRPr>
            </a:lvl2pPr>
            <a:lvl3pPr marL="174625" indent="-174625" algn="l" defTabSz="457200" rtl="0" eaLnBrk="1" fontAlgn="ctr" latinLnBrk="0" hangingPunct="1">
              <a:lnSpc>
                <a:spcPct val="100000"/>
              </a:lnSpc>
              <a:spcBef>
                <a:spcPts val="1200"/>
              </a:spcBef>
              <a:buClr>
                <a:schemeClr val="tx1"/>
              </a:buClr>
              <a:buFont typeface="Arial" panose="020B0604020202020204" pitchFamily="34" charset="0"/>
              <a:buChar char="•"/>
              <a:defRPr lang="en-US" sz="1300" kern="1200" baseline="0" dirty="0" smtClean="0">
                <a:solidFill>
                  <a:schemeClr val="tx2"/>
                </a:solidFill>
                <a:latin typeface="+mn-lt"/>
                <a:ea typeface="+mn-ea"/>
                <a:cs typeface="+mn-cs"/>
              </a:defRPr>
            </a:lvl3pPr>
            <a:lvl4pPr marL="347663" indent="-173038" algn="l" defTabSz="457200" rtl="0" eaLnBrk="1" fontAlgn="ctr" latinLnBrk="0" hangingPunct="1">
              <a:lnSpc>
                <a:spcPct val="100000"/>
              </a:lnSpc>
              <a:spcBef>
                <a:spcPts val="600"/>
              </a:spcBef>
              <a:buClr>
                <a:schemeClr val="tx1"/>
              </a:buClr>
              <a:buFont typeface="Arial" panose="020B0604020202020204" pitchFamily="34" charset="0"/>
              <a:buChar char="–"/>
              <a:defRPr lang="en-US" sz="1300" kern="1200" dirty="0" smtClean="0">
                <a:solidFill>
                  <a:schemeClr val="tx2"/>
                </a:solidFill>
                <a:latin typeface="+mn-lt"/>
                <a:ea typeface="+mn-ea"/>
                <a:cs typeface="+mn-cs"/>
              </a:defRPr>
            </a:lvl4pPr>
            <a:lvl5pPr marL="511175" indent="-163513" algn="l" defTabSz="457200" rtl="0" eaLnBrk="1" fontAlgn="ctr" latinLnBrk="0" hangingPunct="1">
              <a:lnSpc>
                <a:spcPct val="100000"/>
              </a:lnSpc>
              <a:spcBef>
                <a:spcPts val="600"/>
              </a:spcBef>
              <a:buClr>
                <a:schemeClr val="tx1"/>
              </a:buClr>
              <a:buFont typeface="Arial" panose="020B0604020202020204" pitchFamily="34" charset="0"/>
              <a:buChar char="•"/>
              <a:defRPr lang="en-US" sz="1300" kern="1200" baseline="0" dirty="0">
                <a:solidFill>
                  <a:schemeClr val="tx2"/>
                </a:solidFill>
                <a:latin typeface="+mn-lt"/>
                <a:ea typeface="+mn-ea"/>
                <a:cs typeface="+mn-cs"/>
              </a:defRPr>
            </a:lvl5pPr>
            <a:lvl6pPr marL="685800" indent="-174625" algn="l" defTabSz="457200" rtl="0" eaLnBrk="1" fontAlgn="ctr" latinLnBrk="0" hangingPunct="1">
              <a:lnSpc>
                <a:spcPct val="100000"/>
              </a:lnSpc>
              <a:spcBef>
                <a:spcPts val="600"/>
              </a:spcBef>
              <a:buClr>
                <a:schemeClr val="tx1"/>
              </a:buClr>
              <a:buFont typeface="Arial" panose="020B0604020202020204" pitchFamily="34" charset="0"/>
              <a:buChar char="–"/>
              <a:defRPr sz="1300" kern="1200">
                <a:solidFill>
                  <a:schemeClr val="tx2"/>
                </a:solidFill>
                <a:latin typeface="+mn-lt"/>
                <a:ea typeface="+mn-ea"/>
                <a:cs typeface="+mn-cs"/>
              </a:defRPr>
            </a:lvl6pPr>
            <a:lvl7pPr marL="860425" indent="-173038" algn="l" defTabSz="457200" rtl="0" eaLnBrk="1" fontAlgn="ctr" latinLnBrk="0" hangingPunct="1">
              <a:lnSpc>
                <a:spcPct val="100000"/>
              </a:lnSpc>
              <a:spcBef>
                <a:spcPts val="600"/>
              </a:spcBef>
              <a:buClrTx/>
              <a:buFont typeface="Arial" panose="020B0604020202020204" pitchFamily="34" charset="0"/>
              <a:buChar char="•"/>
              <a:tabLst/>
              <a:defRPr sz="1300" kern="1200">
                <a:solidFill>
                  <a:schemeClr val="tx2"/>
                </a:solidFill>
                <a:latin typeface="+mn-lt"/>
                <a:ea typeface="+mn-ea"/>
                <a:cs typeface="+mn-cs"/>
              </a:defRPr>
            </a:lvl7pPr>
            <a:lvl8pPr marL="1031875"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8pPr>
            <a:lvl9pPr marL="1203325"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pPr marL="285750" indent="-285750">
              <a:buFont typeface="Arial" panose="020B0604020202020204" pitchFamily="34" charset="0"/>
              <a:buChar char="•"/>
            </a:pPr>
            <a:r>
              <a:rPr lang="en-US" sz="1400"/>
              <a:t>The transformer encodes both shared and specialized information about concepts</a:t>
            </a:r>
          </a:p>
          <a:p>
            <a:pPr marL="807720" lvl="2" indent="-285750"/>
            <a:r>
              <a:rPr lang="en-US" sz="1400"/>
              <a:t>It starts to differentiate different clinical concepts approaching the end of layers </a:t>
            </a:r>
          </a:p>
          <a:p>
            <a:pPr marL="633095" lvl="2" indent="-285750"/>
            <a:endParaRPr lang="en-US" sz="1400"/>
          </a:p>
          <a:p>
            <a:pPr marL="285750" indent="-285750">
              <a:buFont typeface="Arial" panose="020B0604020202020204" pitchFamily="34" charset="0"/>
              <a:buChar char="•"/>
            </a:pPr>
            <a:endParaRPr lang="en-US" sz="1400" b="0"/>
          </a:p>
        </p:txBody>
      </p:sp>
      <p:sp>
        <p:nvSpPr>
          <p:cNvPr id="9" name="TextBox 8">
            <a:extLst>
              <a:ext uri="{FF2B5EF4-FFF2-40B4-BE49-F238E27FC236}">
                <a16:creationId xmlns:a16="http://schemas.microsoft.com/office/drawing/2014/main" id="{BB5AF2E7-FB50-90ED-929C-FC3983145D29}"/>
              </a:ext>
            </a:extLst>
          </p:cNvPr>
          <p:cNvSpPr txBox="1"/>
          <p:nvPr/>
        </p:nvSpPr>
        <p:spPr>
          <a:xfrm>
            <a:off x="5325942" y="6327649"/>
            <a:ext cx="5216036" cy="276999"/>
          </a:xfrm>
          <a:prstGeom prst="rect">
            <a:avLst/>
          </a:prstGeom>
          <a:noFill/>
        </p:spPr>
        <p:txBody>
          <a:bodyPr wrap="square">
            <a:spAutoFit/>
          </a:bodyPr>
          <a:lstStyle/>
          <a:p>
            <a:r>
              <a:rPr lang="en-US" sz="1200" i="1">
                <a:solidFill>
                  <a:schemeClr val="bg1">
                    <a:lumMod val="65000"/>
                  </a:schemeClr>
                </a:solidFill>
                <a:latin typeface="CVS Health Sans" panose="020B0504020202020204" pitchFamily="34" charset="0"/>
              </a:rPr>
              <a:t>INTERNAL USE</a:t>
            </a:r>
            <a:r>
              <a:rPr lang="en-US" sz="1200" b="0" i="1">
                <a:solidFill>
                  <a:schemeClr val="bg1">
                    <a:lumMod val="65000"/>
                  </a:schemeClr>
                </a:solidFill>
                <a:effectLst/>
                <a:latin typeface="CVS Health Sans" panose="020B0504020202020204" pitchFamily="34" charset="0"/>
              </a:rPr>
              <a:t> AND NOT FOR DISTRIBUTION OR RECIRCULATION</a:t>
            </a:r>
            <a:endParaRPr lang="en-US" sz="1200">
              <a:solidFill>
                <a:schemeClr val="bg1">
                  <a:lumMod val="65000"/>
                </a:schemeClr>
              </a:solidFill>
              <a:latin typeface="CVS Health Sans" panose="020B0504020202020204" pitchFamily="34" charset="0"/>
            </a:endParaRPr>
          </a:p>
        </p:txBody>
      </p:sp>
      <p:sp>
        <p:nvSpPr>
          <p:cNvPr id="10" name="Title 1">
            <a:extLst>
              <a:ext uri="{FF2B5EF4-FFF2-40B4-BE49-F238E27FC236}">
                <a16:creationId xmlns:a16="http://schemas.microsoft.com/office/drawing/2014/main" id="{FC1E794C-C033-B021-95D1-2A19C63ED6AC}"/>
              </a:ext>
            </a:extLst>
          </p:cNvPr>
          <p:cNvSpPr>
            <a:spLocks noGrp="1"/>
          </p:cNvSpPr>
          <p:nvPr>
            <p:ph type="title"/>
          </p:nvPr>
        </p:nvSpPr>
        <p:spPr>
          <a:xfrm>
            <a:off x="557928" y="530351"/>
            <a:ext cx="11319941" cy="713232"/>
          </a:xfrm>
        </p:spPr>
        <p:txBody>
          <a:bodyPr>
            <a:normAutofit fontScale="90000"/>
          </a:bodyPr>
          <a:lstStyle/>
          <a:p>
            <a:r>
              <a:rPr lang="en-US" sz="2400">
                <a:latin typeface="CVS Health Sans" panose="020B0504020202020204" pitchFamily="34" charset="0"/>
              </a:rPr>
              <a:t>Model behavior with probing and CAV – what clinical concepts are learned and where</a:t>
            </a:r>
          </a:p>
        </p:txBody>
      </p:sp>
    </p:spTree>
    <p:extLst>
      <p:ext uri="{BB962C8B-B14F-4D97-AF65-F5344CB8AC3E}">
        <p14:creationId xmlns:p14="http://schemas.microsoft.com/office/powerpoint/2010/main" val="947999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2DA4E-AA48-E100-3CAA-8F0004A27C58}"/>
              </a:ext>
            </a:extLst>
          </p:cNvPr>
          <p:cNvSpPr>
            <a:spLocks noGrp="1"/>
          </p:cNvSpPr>
          <p:nvPr>
            <p:ph type="title"/>
          </p:nvPr>
        </p:nvSpPr>
        <p:spPr/>
        <p:txBody>
          <a:bodyPr/>
          <a:lstStyle/>
          <a:p>
            <a:r>
              <a:rPr lang="en-US"/>
              <a:t>TE explainability framework</a:t>
            </a:r>
          </a:p>
        </p:txBody>
      </p:sp>
      <p:sp>
        <p:nvSpPr>
          <p:cNvPr id="3" name="Content Placeholder 2">
            <a:extLst>
              <a:ext uri="{FF2B5EF4-FFF2-40B4-BE49-F238E27FC236}">
                <a16:creationId xmlns:a16="http://schemas.microsoft.com/office/drawing/2014/main" id="{C1E872F3-6F27-A2BD-C59D-4EC329001732}"/>
              </a:ext>
            </a:extLst>
          </p:cNvPr>
          <p:cNvSpPr>
            <a:spLocks noGrp="1"/>
          </p:cNvSpPr>
          <p:nvPr>
            <p:ph sz="half" idx="1"/>
          </p:nvPr>
        </p:nvSpPr>
        <p:spPr>
          <a:xfrm>
            <a:off x="557929" y="1442108"/>
            <a:ext cx="3253648" cy="3524360"/>
          </a:xfrm>
        </p:spPr>
        <p:txBody>
          <a:bodyPr>
            <a:normAutofit fontScale="70000" lnSpcReduction="20000"/>
          </a:bodyPr>
          <a:lstStyle/>
          <a:p>
            <a:r>
              <a:rPr lang="en-US" sz="1600"/>
              <a:t>What stakeholders really want to understand?</a:t>
            </a:r>
          </a:p>
          <a:p>
            <a:pPr lvl="2"/>
            <a:r>
              <a:rPr lang="en-US"/>
              <a:t>Semantic meanings of the embedding dimensions and the impact of each dimension on the downstream classification tasks</a:t>
            </a:r>
          </a:p>
          <a:p>
            <a:pPr lvl="2"/>
            <a:r>
              <a:rPr lang="en-US"/>
              <a:t>TE learning progression and how it builds the clinical understanding internally</a:t>
            </a:r>
          </a:p>
          <a:p>
            <a:pPr lvl="2"/>
            <a:r>
              <a:rPr lang="en-US"/>
              <a:t>The ”explainability” means differently to DS to CM; extra efforts are needed when communicating with CMs. </a:t>
            </a:r>
          </a:p>
        </p:txBody>
      </p:sp>
      <p:sp>
        <p:nvSpPr>
          <p:cNvPr id="4" name="Content Placeholder 3">
            <a:extLst>
              <a:ext uri="{FF2B5EF4-FFF2-40B4-BE49-F238E27FC236}">
                <a16:creationId xmlns:a16="http://schemas.microsoft.com/office/drawing/2014/main" id="{28F38B94-05DA-189E-FEC3-2D78B1FE3DB4}"/>
              </a:ext>
            </a:extLst>
          </p:cNvPr>
          <p:cNvSpPr txBox="1">
            <a:spLocks/>
          </p:cNvSpPr>
          <p:nvPr/>
        </p:nvSpPr>
        <p:spPr>
          <a:xfrm>
            <a:off x="4376657" y="1434846"/>
            <a:ext cx="3577711" cy="3988308"/>
          </a:xfrm>
          <a:prstGeom prst="rect">
            <a:avLst/>
          </a:prstGeom>
        </p:spPr>
        <p:txBody>
          <a:bodyPr/>
          <a:lst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r>
              <a:rPr lang="en-US" sz="1600" b="1"/>
              <a:t>What principles we should follow?</a:t>
            </a:r>
          </a:p>
          <a:p>
            <a:pPr marL="171450" marR="0" lvl="2" indent="-171450" algn="l" defTabSz="457200" rtl="0" eaLnBrk="1" fontAlgn="ctr" latinLnBrk="0" hangingPunct="1">
              <a:lnSpc>
                <a:spcPct val="100000"/>
              </a:lnSpc>
              <a:spcBef>
                <a:spcPts val="1200"/>
              </a:spcBef>
              <a:spcAft>
                <a:spcPts val="0"/>
              </a:spcAft>
              <a:buClr>
                <a:srgbClr val="000000"/>
              </a:buClr>
              <a:buSzTx/>
              <a:buFont typeface="Arial" panose="020B0604020202020204" pitchFamily="34" charset="0"/>
              <a:buChar char="•"/>
              <a:tabLst/>
              <a:defRPr/>
            </a:pPr>
            <a:r>
              <a:rPr kumimoji="0" lang="en-US" sz="1300" b="1" i="0" u="none" strike="noStrike" kern="1200" cap="none" spc="0" normalizeH="0" baseline="0" noProof="0">
                <a:ln>
                  <a:noFill/>
                </a:ln>
                <a:solidFill>
                  <a:srgbClr val="3F3F3F"/>
                </a:solidFill>
                <a:effectLst/>
                <a:uLnTx/>
                <a:uFillTx/>
                <a:latin typeface="CVS Health Sans"/>
                <a:ea typeface="+mn-ea"/>
                <a:cs typeface="+mn-cs"/>
              </a:rPr>
              <a:t>Faithfulnes</a:t>
            </a:r>
            <a:r>
              <a:rPr lang="en-US" b="1">
                <a:solidFill>
                  <a:srgbClr val="3F3F3F"/>
                </a:solidFill>
                <a:latin typeface="CVS Health Sans"/>
              </a:rPr>
              <a:t>s</a:t>
            </a:r>
            <a:r>
              <a:rPr lang="en-US">
                <a:solidFill>
                  <a:srgbClr val="3F3F3F"/>
                </a:solidFill>
                <a:latin typeface="CVS Health Sans"/>
              </a:rPr>
              <a:t>: The explanation should accurately reflect the models’ true behavior, not post-hoc rationalization; and align with domain knowledge and expectations</a:t>
            </a:r>
          </a:p>
          <a:p>
            <a:pPr marL="171450" marR="0" lvl="2" indent="-171450" algn="l" defTabSz="457200" rtl="0" eaLnBrk="1" fontAlgn="ctr" latinLnBrk="0" hangingPunct="1">
              <a:lnSpc>
                <a:spcPct val="100000"/>
              </a:lnSpc>
              <a:spcBef>
                <a:spcPts val="1200"/>
              </a:spcBef>
              <a:spcAft>
                <a:spcPts val="0"/>
              </a:spcAft>
              <a:buClr>
                <a:srgbClr val="000000"/>
              </a:buClr>
              <a:buSzTx/>
              <a:buFont typeface="Arial" panose="020B0604020202020204" pitchFamily="34" charset="0"/>
              <a:buChar char="•"/>
              <a:tabLst/>
              <a:defRPr/>
            </a:pPr>
            <a:r>
              <a:rPr kumimoji="0" lang="en-US" sz="1300" b="1" i="0" u="none" strike="noStrike" kern="1200" cap="none" spc="0" normalizeH="0" baseline="0" noProof="0">
                <a:ln>
                  <a:noFill/>
                </a:ln>
                <a:solidFill>
                  <a:srgbClr val="3F3F3F"/>
                </a:solidFill>
                <a:effectLst/>
                <a:uLnTx/>
                <a:uFillTx/>
                <a:latin typeface="CVS Health Sans"/>
                <a:ea typeface="+mn-ea"/>
                <a:cs typeface="+mn-cs"/>
              </a:rPr>
              <a:t>Consistency</a:t>
            </a:r>
            <a:r>
              <a:rPr lang="en-US">
                <a:solidFill>
                  <a:srgbClr val="3F3F3F"/>
                </a:solidFill>
                <a:latin typeface="CVS Health Sans"/>
              </a:rPr>
              <a:t>: Similar inputs yield similar explanations across contexts (i.e., cross population, upstream-downstream)</a:t>
            </a:r>
          </a:p>
          <a:p>
            <a:pPr marL="171450" marR="0" lvl="2" indent="-171450" algn="l" defTabSz="457200" rtl="0" eaLnBrk="1" fontAlgn="ctr" latinLnBrk="0" hangingPunct="1">
              <a:lnSpc>
                <a:spcPct val="100000"/>
              </a:lnSpc>
              <a:spcBef>
                <a:spcPts val="1200"/>
              </a:spcBef>
              <a:spcAft>
                <a:spcPts val="0"/>
              </a:spcAft>
              <a:buClr>
                <a:srgbClr val="000000"/>
              </a:buClr>
              <a:buSzTx/>
              <a:buFont typeface="Arial" panose="020B0604020202020204" pitchFamily="34" charset="0"/>
              <a:buChar char="•"/>
              <a:tabLst/>
              <a:defRPr/>
            </a:pPr>
            <a:r>
              <a:rPr lang="en-US">
                <a:solidFill>
                  <a:srgbClr val="3F3F3F"/>
                </a:solidFill>
                <a:latin typeface="CVS Health Sans"/>
              </a:rPr>
              <a:t> </a:t>
            </a:r>
            <a:r>
              <a:rPr lang="en-US" b="1">
                <a:solidFill>
                  <a:srgbClr val="3F3F3F"/>
                </a:solidFill>
                <a:latin typeface="CVS Health Sans"/>
              </a:rPr>
              <a:t>Transparency</a:t>
            </a:r>
            <a:r>
              <a:rPr lang="en-US">
                <a:solidFill>
                  <a:srgbClr val="3F3F3F"/>
                </a:solidFill>
                <a:latin typeface="CVS Health Sans"/>
              </a:rPr>
              <a:t>: The transparency should be operated at three levels, i.e., algorithm, procedure and limitations; caution on LLM-based explanation</a:t>
            </a:r>
          </a:p>
          <a:p>
            <a:pPr marL="171450" marR="0" lvl="2" indent="-171450" algn="l" defTabSz="457200" rtl="0" eaLnBrk="1" fontAlgn="ctr" latinLnBrk="0" hangingPunct="1">
              <a:lnSpc>
                <a:spcPct val="100000"/>
              </a:lnSpc>
              <a:spcBef>
                <a:spcPts val="1200"/>
              </a:spcBef>
              <a:spcAft>
                <a:spcPts val="0"/>
              </a:spcAft>
              <a:buClr>
                <a:srgbClr val="000000"/>
              </a:buClr>
              <a:buSzTx/>
              <a:buFont typeface="Arial" panose="020B0604020202020204" pitchFamily="34" charset="0"/>
              <a:buChar char="•"/>
              <a:tabLst/>
              <a:defRPr/>
            </a:pPr>
            <a:r>
              <a:rPr kumimoji="0" lang="en-US" b="1" i="0" u="none" strike="noStrike" kern="1200" cap="none" spc="0" normalizeH="0" baseline="0" noProof="0">
                <a:ln>
                  <a:noFill/>
                </a:ln>
                <a:solidFill>
                  <a:srgbClr val="3F3F3F"/>
                </a:solidFill>
                <a:effectLst/>
                <a:uLnTx/>
                <a:uFillTx/>
                <a:latin typeface="CVS Health Sans"/>
                <a:ea typeface="+mn-ea"/>
                <a:cs typeface="+mn-cs"/>
              </a:rPr>
              <a:t>Completeness</a:t>
            </a:r>
            <a:r>
              <a:rPr lang="en-US">
                <a:solidFill>
                  <a:srgbClr val="3F3F3F"/>
                </a:solidFill>
                <a:latin typeface="CVS Health Sans"/>
              </a:rPr>
              <a:t>: Explanations should capture a sufficient portion of the outputs and model behaviors</a:t>
            </a:r>
            <a:endParaRPr kumimoji="0" lang="en-US" b="0" i="0" u="none" strike="noStrike" kern="1200" cap="none" spc="0" normalizeH="0" baseline="0" noProof="0">
              <a:ln>
                <a:noFill/>
              </a:ln>
              <a:solidFill>
                <a:srgbClr val="3F3F3F"/>
              </a:solidFill>
              <a:effectLst/>
              <a:uLnTx/>
              <a:uFillTx/>
              <a:latin typeface="CVS Health Sans"/>
              <a:ea typeface="+mn-ea"/>
              <a:cs typeface="+mn-cs"/>
            </a:endParaRPr>
          </a:p>
          <a:p>
            <a:endParaRPr lang="en-US"/>
          </a:p>
        </p:txBody>
      </p:sp>
      <p:sp>
        <p:nvSpPr>
          <p:cNvPr id="5" name="Content Placeholder 4">
            <a:extLst>
              <a:ext uri="{FF2B5EF4-FFF2-40B4-BE49-F238E27FC236}">
                <a16:creationId xmlns:a16="http://schemas.microsoft.com/office/drawing/2014/main" id="{779BB1CF-3577-E6D5-3801-4DA16316E8B1}"/>
              </a:ext>
            </a:extLst>
          </p:cNvPr>
          <p:cNvSpPr txBox="1">
            <a:spLocks/>
          </p:cNvSpPr>
          <p:nvPr/>
        </p:nvSpPr>
        <p:spPr>
          <a:xfrm>
            <a:off x="8172039" y="1434846"/>
            <a:ext cx="3434085" cy="3988308"/>
          </a:xfrm>
          <a:prstGeom prst="rect">
            <a:avLst/>
          </a:prstGeom>
        </p:spPr>
        <p:txBody>
          <a:bodyPr/>
          <a:lst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r>
              <a:rPr lang="en-US" sz="1600" b="1"/>
              <a:t>What methods we need?</a:t>
            </a:r>
          </a:p>
          <a:p>
            <a:pPr marL="171450" marR="0" lvl="2" indent="-171450" algn="l" defTabSz="457200" rtl="0" eaLnBrk="1" fontAlgn="ctr" latinLnBrk="0" hangingPunct="1">
              <a:lnSpc>
                <a:spcPct val="100000"/>
              </a:lnSpc>
              <a:spcBef>
                <a:spcPts val="1200"/>
              </a:spcBef>
              <a:spcAft>
                <a:spcPts val="0"/>
              </a:spcAft>
              <a:buClr>
                <a:srgbClr val="000000"/>
              </a:buClr>
              <a:buSzTx/>
              <a:buFont typeface="Arial" panose="020B0604020202020204" pitchFamily="34" charset="0"/>
              <a:buChar char="•"/>
              <a:tabLst/>
              <a:defRPr/>
            </a:pPr>
            <a:r>
              <a:rPr kumimoji="0" lang="en-US" sz="1300" b="0" i="0" u="none" strike="noStrike" kern="1200" cap="none" spc="0" normalizeH="0" baseline="0" noProof="0">
                <a:ln>
                  <a:noFill/>
                </a:ln>
                <a:solidFill>
                  <a:srgbClr val="3F3F3F"/>
                </a:solidFill>
                <a:effectLst/>
                <a:uLnTx/>
                <a:uFillTx/>
                <a:latin typeface="CVS Health Sans"/>
                <a:ea typeface="+mn-ea"/>
                <a:cs typeface="+mn-cs"/>
              </a:rPr>
              <a:t>Simple correlation with traditional features with directional check</a:t>
            </a:r>
          </a:p>
          <a:p>
            <a:pPr marL="171450" marR="0" lvl="2" indent="-171450" algn="l" defTabSz="457200" rtl="0" eaLnBrk="1" fontAlgn="ctr" latinLnBrk="0" hangingPunct="1">
              <a:lnSpc>
                <a:spcPct val="100000"/>
              </a:lnSpc>
              <a:spcBef>
                <a:spcPts val="1200"/>
              </a:spcBef>
              <a:spcAft>
                <a:spcPts val="0"/>
              </a:spcAft>
              <a:buClr>
                <a:srgbClr val="000000"/>
              </a:buClr>
              <a:buSzTx/>
              <a:buFont typeface="Arial" panose="020B0604020202020204" pitchFamily="34" charset="0"/>
              <a:buChar char="•"/>
              <a:tabLst/>
              <a:defRPr/>
            </a:pPr>
            <a:r>
              <a:rPr kumimoji="0" lang="en-US" sz="1300" b="0" i="0" u="none" strike="noStrike" kern="1200" cap="none" spc="0" normalizeH="0" baseline="0" noProof="0">
                <a:ln>
                  <a:noFill/>
                </a:ln>
                <a:solidFill>
                  <a:srgbClr val="3F3F3F"/>
                </a:solidFill>
                <a:effectLst/>
                <a:uLnTx/>
                <a:uFillTx/>
                <a:latin typeface="CVS Health Sans"/>
                <a:ea typeface="+mn-ea"/>
                <a:cs typeface="+mn-cs"/>
              </a:rPr>
              <a:t>Task-driven methods include Shapley value, LIME</a:t>
            </a:r>
          </a:p>
          <a:p>
            <a:pPr marL="171450" marR="0" lvl="2" indent="-171450" algn="l" defTabSz="457200" rtl="0" eaLnBrk="1" fontAlgn="ctr" latinLnBrk="0" hangingPunct="1">
              <a:lnSpc>
                <a:spcPct val="100000"/>
              </a:lnSpc>
              <a:spcBef>
                <a:spcPts val="1200"/>
              </a:spcBef>
              <a:spcAft>
                <a:spcPts val="0"/>
              </a:spcAft>
              <a:buClr>
                <a:srgbClr val="000000"/>
              </a:buClr>
              <a:buSzTx/>
              <a:buFont typeface="Arial" panose="020B0604020202020204" pitchFamily="34" charset="0"/>
              <a:buChar char="•"/>
              <a:tabLst/>
              <a:defRPr/>
            </a:pPr>
            <a:r>
              <a:rPr kumimoji="0" lang="en-US" sz="1300" b="0" i="0" u="none" strike="noStrike" kern="1200" cap="none" spc="0" normalizeH="0" baseline="0" noProof="0">
                <a:ln>
                  <a:noFill/>
                </a:ln>
                <a:solidFill>
                  <a:srgbClr val="3F3F3F"/>
                </a:solidFill>
                <a:effectLst/>
                <a:uLnTx/>
                <a:uFillTx/>
                <a:latin typeface="CVS Health Sans"/>
                <a:ea typeface="+mn-ea"/>
                <a:cs typeface="+mn-cs"/>
              </a:rPr>
              <a:t>Model behaviors methods include test with concept activation vector (TCAV), linear probing, attention mechanism visualization</a:t>
            </a:r>
          </a:p>
          <a:p>
            <a:pPr marL="171450" marR="0" lvl="2" indent="-171450" algn="l" defTabSz="457200" rtl="0" eaLnBrk="1" fontAlgn="ctr" latinLnBrk="0" hangingPunct="1">
              <a:lnSpc>
                <a:spcPct val="100000"/>
              </a:lnSpc>
              <a:spcBef>
                <a:spcPts val="1200"/>
              </a:spcBef>
              <a:spcAft>
                <a:spcPts val="0"/>
              </a:spcAft>
              <a:buClr>
                <a:srgbClr val="000000"/>
              </a:buClr>
              <a:buSzTx/>
              <a:buFont typeface="Arial" panose="020B0604020202020204" pitchFamily="34" charset="0"/>
              <a:buChar char="•"/>
              <a:tabLst/>
              <a:defRPr/>
            </a:pPr>
            <a:r>
              <a:rPr lang="en-US">
                <a:solidFill>
                  <a:srgbClr val="3F3F3F"/>
                </a:solidFill>
                <a:latin typeface="CVS Health Sans"/>
              </a:rPr>
              <a:t>Experts’ generated meaning clinical concepts and ground truth</a:t>
            </a:r>
            <a:endParaRPr kumimoji="0" lang="en-US" sz="1300" b="0" i="0" u="none" strike="noStrike" kern="1200" cap="none" spc="0" normalizeH="0" baseline="0" noProof="0">
              <a:ln>
                <a:noFill/>
              </a:ln>
              <a:solidFill>
                <a:srgbClr val="3F3F3F"/>
              </a:solidFill>
              <a:effectLst/>
              <a:uLnTx/>
              <a:uFillTx/>
              <a:latin typeface="CVS Health Sans"/>
              <a:ea typeface="+mn-ea"/>
              <a:cs typeface="+mn-cs"/>
            </a:endParaRPr>
          </a:p>
        </p:txBody>
      </p:sp>
    </p:spTree>
    <p:extLst>
      <p:ext uri="{BB962C8B-B14F-4D97-AF65-F5344CB8AC3E}">
        <p14:creationId xmlns:p14="http://schemas.microsoft.com/office/powerpoint/2010/main" val="3658810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6769F-3A05-4531-8F70-0CD539BFA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B8C137-FBBF-B8E1-ECBD-D60D8FF7E052}"/>
              </a:ext>
            </a:extLst>
          </p:cNvPr>
          <p:cNvSpPr>
            <a:spLocks noGrp="1"/>
          </p:cNvSpPr>
          <p:nvPr>
            <p:ph type="title"/>
          </p:nvPr>
        </p:nvSpPr>
        <p:spPr/>
        <p:txBody>
          <a:bodyPr/>
          <a:lstStyle/>
          <a:p>
            <a:r>
              <a:rPr lang="en-US"/>
              <a:t>Method 1 – Concept Activation Vectors (CAV)</a:t>
            </a:r>
          </a:p>
        </p:txBody>
      </p:sp>
      <p:sp>
        <p:nvSpPr>
          <p:cNvPr id="3" name="Content Placeholder 2">
            <a:extLst>
              <a:ext uri="{FF2B5EF4-FFF2-40B4-BE49-F238E27FC236}">
                <a16:creationId xmlns:a16="http://schemas.microsoft.com/office/drawing/2014/main" id="{4BCF319F-7DEA-8E0E-41D1-23FA9CEEBD62}"/>
              </a:ext>
            </a:extLst>
          </p:cNvPr>
          <p:cNvSpPr>
            <a:spLocks noGrp="1"/>
          </p:cNvSpPr>
          <p:nvPr>
            <p:ph sz="half" idx="1"/>
          </p:nvPr>
        </p:nvSpPr>
        <p:spPr>
          <a:xfrm>
            <a:off x="571904" y="1243583"/>
            <a:ext cx="3253648" cy="3524360"/>
          </a:xfrm>
        </p:spPr>
        <p:txBody>
          <a:bodyPr>
            <a:normAutofit fontScale="77500" lnSpcReduction="20000"/>
          </a:bodyPr>
          <a:lstStyle/>
          <a:p>
            <a:r>
              <a:rPr lang="en-US" sz="1600"/>
              <a:t>Objective</a:t>
            </a:r>
          </a:p>
          <a:p>
            <a:pPr lvl="2"/>
            <a:r>
              <a:rPr lang="en-US"/>
              <a:t>Make the embeddings interpretable using Concept Activation Vectors (CAV) to identify which embedding dimensions encode clinically meaningful information</a:t>
            </a:r>
          </a:p>
          <a:p>
            <a:r>
              <a:rPr lang="en-US" sz="1600"/>
              <a:t>Method</a:t>
            </a:r>
          </a:p>
          <a:p>
            <a:pPr marL="285750" indent="-285750">
              <a:buFont typeface="Arial" panose="020B0604020202020204" pitchFamily="34" charset="0"/>
              <a:buChar char="•"/>
            </a:pPr>
            <a:r>
              <a:rPr lang="en-US" sz="1300" b="0"/>
              <a:t>Defined </a:t>
            </a:r>
            <a:r>
              <a:rPr lang="en-US" sz="1300"/>
              <a:t>74 claims-based clinical concepts</a:t>
            </a:r>
            <a:r>
              <a:rPr lang="en-US" sz="1300" b="0"/>
              <a:t> across 9 categories – </a:t>
            </a:r>
            <a:r>
              <a:rPr lang="en-US" sz="1300" b="0" i="1"/>
              <a:t>Chronic Conditions, Cardiovascular Conditions, Neurological &amp; Mental Health, Cancer &amp; Complex Care, Acute Events, Utilization Patterns, Risk Factors, Care Coordination and others</a:t>
            </a:r>
          </a:p>
          <a:p>
            <a:pPr marL="285750" indent="-285750">
              <a:buFont typeface="Arial" panose="020B0604020202020204" pitchFamily="34" charset="0"/>
              <a:buChar char="•"/>
            </a:pPr>
            <a:r>
              <a:rPr lang="en-US" sz="1300" b="0"/>
              <a:t>Generated member-level labels from the same data used to train the transformer</a:t>
            </a:r>
          </a:p>
          <a:p>
            <a:pPr marL="285750" indent="-285750">
              <a:buFont typeface="Arial" panose="020B0604020202020204" pitchFamily="34" charset="0"/>
              <a:buChar char="•"/>
            </a:pPr>
            <a:r>
              <a:rPr lang="en-US" sz="1300" b="0"/>
              <a:t>Used CAVs to test which embedding dimensions predict each concept</a:t>
            </a:r>
            <a:endParaRPr lang="en-US" sz="800" b="0"/>
          </a:p>
          <a:p>
            <a:endParaRPr lang="en-US" sz="1600"/>
          </a:p>
          <a:p>
            <a:endParaRPr lang="en-US" sz="1600"/>
          </a:p>
        </p:txBody>
      </p:sp>
      <p:sp>
        <p:nvSpPr>
          <p:cNvPr id="4" name="Content Placeholder 3">
            <a:extLst>
              <a:ext uri="{FF2B5EF4-FFF2-40B4-BE49-F238E27FC236}">
                <a16:creationId xmlns:a16="http://schemas.microsoft.com/office/drawing/2014/main" id="{5ADE1BCB-C337-0061-498F-7B0E8A76ECE3}"/>
              </a:ext>
            </a:extLst>
          </p:cNvPr>
          <p:cNvSpPr txBox="1">
            <a:spLocks/>
          </p:cNvSpPr>
          <p:nvPr/>
        </p:nvSpPr>
        <p:spPr>
          <a:xfrm>
            <a:off x="4371971" y="1243583"/>
            <a:ext cx="3577711" cy="3988308"/>
          </a:xfrm>
          <a:prstGeom prst="rect">
            <a:avLst/>
          </a:prstGeom>
        </p:spPr>
        <p:txBody>
          <a:bodyPr/>
          <a:lst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r>
              <a:rPr lang="en-US" sz="1600" b="1"/>
              <a:t>What is CAV?</a:t>
            </a:r>
          </a:p>
          <a:p>
            <a:pPr marL="285750" indent="-285750">
              <a:buFont typeface="Arial" panose="020B0604020202020204" pitchFamily="34" charset="0"/>
              <a:buChar char="•"/>
            </a:pPr>
            <a:r>
              <a:rPr lang="en-US"/>
              <a:t>Train a linear classifier (logistic regression) to predict each concept from the embeddings</a:t>
            </a:r>
          </a:p>
          <a:p>
            <a:pPr marL="285750" indent="-285750">
              <a:buFont typeface="Arial" panose="020B0604020202020204" pitchFamily="34" charset="0"/>
              <a:buChar char="•"/>
            </a:pPr>
            <a:r>
              <a:rPr lang="en-US"/>
              <a:t>How to interpret CAV weights:</a:t>
            </a:r>
          </a:p>
          <a:p>
            <a:pPr marL="457200" lvl="1" indent="-285750">
              <a:buFont typeface="Arial" panose="020B0604020202020204" pitchFamily="34" charset="0"/>
              <a:buChar char="•"/>
            </a:pPr>
            <a:r>
              <a:rPr lang="en-US" b="1"/>
              <a:t>Positive weight: </a:t>
            </a:r>
            <a:r>
              <a:rPr lang="en-US"/>
              <a:t>Higher dimension value -&gt; Higher probability of concept </a:t>
            </a:r>
          </a:p>
          <a:p>
            <a:pPr marL="457200" lvl="1" indent="-285750">
              <a:buFont typeface="Arial" panose="020B0604020202020204" pitchFamily="34" charset="0"/>
              <a:buChar char="•"/>
            </a:pPr>
            <a:r>
              <a:rPr lang="en-US" b="1"/>
              <a:t>Negative weight : </a:t>
            </a:r>
            <a:r>
              <a:rPr lang="en-US"/>
              <a:t>Higher dimension value -&gt; Lower probability of concept</a:t>
            </a:r>
          </a:p>
          <a:p>
            <a:pPr marL="457200" lvl="1" indent="-285750">
              <a:buFont typeface="Arial" panose="020B0604020202020204" pitchFamily="34" charset="0"/>
              <a:buChar char="•"/>
            </a:pPr>
            <a:r>
              <a:rPr lang="en-US" b="1"/>
              <a:t>Large absolute weight: </a:t>
            </a:r>
            <a:r>
              <a:rPr lang="en-US"/>
              <a:t>This dimension is important for this concept</a:t>
            </a:r>
          </a:p>
        </p:txBody>
      </p:sp>
      <p:sp>
        <p:nvSpPr>
          <p:cNvPr id="5" name="Content Placeholder 4">
            <a:extLst>
              <a:ext uri="{FF2B5EF4-FFF2-40B4-BE49-F238E27FC236}">
                <a16:creationId xmlns:a16="http://schemas.microsoft.com/office/drawing/2014/main" id="{EE60A058-ECFE-DF0C-8389-0266ED6A4CB2}"/>
              </a:ext>
            </a:extLst>
          </p:cNvPr>
          <p:cNvSpPr txBox="1">
            <a:spLocks/>
          </p:cNvSpPr>
          <p:nvPr/>
        </p:nvSpPr>
        <p:spPr>
          <a:xfrm>
            <a:off x="8186014" y="1243583"/>
            <a:ext cx="3434085" cy="3988308"/>
          </a:xfrm>
          <a:prstGeom prst="rect">
            <a:avLst/>
          </a:prstGeom>
        </p:spPr>
        <p:txBody>
          <a:bodyPr/>
          <a:lst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r>
              <a:rPr lang="en-US" sz="1600" b="1"/>
              <a:t>Results (Partial)</a:t>
            </a:r>
          </a:p>
          <a:p>
            <a:pPr marL="342900" lvl="3">
              <a:spcBef>
                <a:spcPts val="1200"/>
              </a:spcBef>
              <a:buClr>
                <a:srgbClr val="000000"/>
              </a:buClr>
              <a:buFont typeface="Arial" panose="020B0604020202020204" pitchFamily="34" charset="0"/>
              <a:buChar char="•"/>
              <a:defRPr/>
            </a:pPr>
            <a:r>
              <a:rPr lang="en-US" b="1">
                <a:solidFill>
                  <a:srgbClr val="3F3F3F"/>
                </a:solidFill>
                <a:latin typeface="CVS Health Sans"/>
              </a:rPr>
              <a:t>Dim 97 (Importance 0.492) : </a:t>
            </a:r>
            <a:r>
              <a:rPr lang="en-US">
                <a:solidFill>
                  <a:srgbClr val="3F3F3F"/>
                </a:solidFill>
                <a:latin typeface="CVS Health Sans"/>
              </a:rPr>
              <a:t>Members with higher values  have Chronic Kidney Disease, often with metabolic and respiratory comorbidities (obesity, sleep apnea)</a:t>
            </a:r>
          </a:p>
          <a:p>
            <a:pPr marL="342900" lvl="3">
              <a:spcBef>
                <a:spcPts val="1200"/>
              </a:spcBef>
              <a:buClr>
                <a:srgbClr val="000000"/>
              </a:buClr>
              <a:buFont typeface="Arial" panose="020B0604020202020204" pitchFamily="34" charset="0"/>
              <a:buChar char="•"/>
              <a:defRPr/>
            </a:pPr>
            <a:r>
              <a:rPr lang="en-US" b="1">
                <a:solidFill>
                  <a:srgbClr val="3F3F3F"/>
                </a:solidFill>
                <a:latin typeface="CVS Health Sans"/>
              </a:rPr>
              <a:t>Dimension 38 (Importance 0.478): </a:t>
            </a:r>
            <a:r>
              <a:rPr lang="en-US">
                <a:solidFill>
                  <a:srgbClr val="3F3F3F"/>
                </a:solidFill>
                <a:latin typeface="CVS Health Sans"/>
              </a:rPr>
              <a:t>Members experiencing severe acute medical events such as ER use, IP, surgical procedure, myocardial infarction, pneumonia</a:t>
            </a:r>
          </a:p>
          <a:p>
            <a:pPr marL="342900" lvl="3">
              <a:spcBef>
                <a:spcPts val="1200"/>
              </a:spcBef>
              <a:buClr>
                <a:srgbClr val="000000"/>
              </a:buClr>
              <a:buFont typeface="Arial" panose="020B0604020202020204" pitchFamily="34" charset="0"/>
              <a:buChar char="•"/>
              <a:defRPr/>
            </a:pPr>
            <a:r>
              <a:rPr lang="en-US" b="1">
                <a:solidFill>
                  <a:srgbClr val="3F3F3F"/>
                </a:solidFill>
                <a:latin typeface="CVS Health Sans"/>
              </a:rPr>
              <a:t>Dimension 52 (Importance 0.423): </a:t>
            </a:r>
            <a:r>
              <a:rPr lang="en-US">
                <a:solidFill>
                  <a:srgbClr val="3F3F3F"/>
                </a:solidFill>
                <a:latin typeface="CVS Health Sans"/>
              </a:rPr>
              <a:t>Identifies members undergoing cancer treatment or with severe frailty markers like malnutrition, seizures</a:t>
            </a:r>
          </a:p>
          <a:p>
            <a:pPr marL="342900" lvl="3">
              <a:spcBef>
                <a:spcPts val="1200"/>
              </a:spcBef>
              <a:buClr>
                <a:srgbClr val="000000"/>
              </a:buClr>
              <a:buFont typeface="Arial" panose="020B0604020202020204" pitchFamily="34" charset="0"/>
              <a:buChar char="•"/>
              <a:defRPr/>
            </a:pPr>
            <a:r>
              <a:rPr lang="en-US" b="1">
                <a:solidFill>
                  <a:srgbClr val="3F3F3F"/>
                </a:solidFill>
                <a:latin typeface="CVS Health Sans"/>
              </a:rPr>
              <a:t>Dimension 189 (Importance 0.397): </a:t>
            </a:r>
            <a:r>
              <a:rPr lang="en-US">
                <a:solidFill>
                  <a:srgbClr val="3F3F3F"/>
                </a:solidFill>
                <a:latin typeface="CVS Health Sans"/>
              </a:rPr>
              <a:t>Members experiencing sepsis, frequent IP visits and other surgical procedures</a:t>
            </a:r>
          </a:p>
          <a:p>
            <a:pPr marL="342900" lvl="3">
              <a:spcBef>
                <a:spcPts val="1200"/>
              </a:spcBef>
              <a:buClr>
                <a:srgbClr val="000000"/>
              </a:buClr>
              <a:buFont typeface="Arial" panose="020B0604020202020204" pitchFamily="34" charset="0"/>
              <a:buChar char="•"/>
              <a:defRPr/>
            </a:pPr>
            <a:endParaRPr lang="en-US">
              <a:solidFill>
                <a:srgbClr val="3F3F3F"/>
              </a:solidFill>
              <a:latin typeface="CVS Health Sans"/>
            </a:endParaRPr>
          </a:p>
        </p:txBody>
      </p:sp>
    </p:spTree>
    <p:extLst>
      <p:ext uri="{BB962C8B-B14F-4D97-AF65-F5344CB8AC3E}">
        <p14:creationId xmlns:p14="http://schemas.microsoft.com/office/powerpoint/2010/main" val="613603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BC1BC-F3C9-AF34-EB7D-671C882C5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E79FA-6C92-6331-7107-C994C899814E}"/>
              </a:ext>
            </a:extLst>
          </p:cNvPr>
          <p:cNvSpPr>
            <a:spLocks noGrp="1"/>
          </p:cNvSpPr>
          <p:nvPr>
            <p:ph type="title"/>
          </p:nvPr>
        </p:nvSpPr>
        <p:spPr/>
        <p:txBody>
          <a:bodyPr/>
          <a:lstStyle/>
          <a:p>
            <a:r>
              <a:rPr lang="en-US" sz="2800">
                <a:latin typeface="CVS Health Sans" panose="020B0504020202020204" pitchFamily="34" charset="0"/>
              </a:rPr>
              <a:t>Semantic meanings of embeddings with correlation</a:t>
            </a:r>
          </a:p>
        </p:txBody>
      </p:sp>
      <p:pic>
        <p:nvPicPr>
          <p:cNvPr id="5" name="Picture 4">
            <a:extLst>
              <a:ext uri="{FF2B5EF4-FFF2-40B4-BE49-F238E27FC236}">
                <a16:creationId xmlns:a16="http://schemas.microsoft.com/office/drawing/2014/main" id="{479639D2-44B5-0B21-6F2E-D36C167308B3}"/>
              </a:ext>
            </a:extLst>
          </p:cNvPr>
          <p:cNvPicPr>
            <a:picLocks noChangeAspect="1"/>
          </p:cNvPicPr>
          <p:nvPr/>
        </p:nvPicPr>
        <p:blipFill>
          <a:blip r:embed="rId2"/>
          <a:stretch>
            <a:fillRect/>
          </a:stretch>
        </p:blipFill>
        <p:spPr>
          <a:xfrm>
            <a:off x="352688" y="1332668"/>
            <a:ext cx="6379037" cy="4441629"/>
          </a:xfrm>
          <a:prstGeom prst="rect">
            <a:avLst/>
          </a:prstGeom>
        </p:spPr>
      </p:pic>
      <p:sp>
        <p:nvSpPr>
          <p:cNvPr id="6" name="TextBox 5">
            <a:extLst>
              <a:ext uri="{FF2B5EF4-FFF2-40B4-BE49-F238E27FC236}">
                <a16:creationId xmlns:a16="http://schemas.microsoft.com/office/drawing/2014/main" id="{A65578B1-4658-5527-2C13-A3015079462D}"/>
              </a:ext>
            </a:extLst>
          </p:cNvPr>
          <p:cNvSpPr txBox="1"/>
          <p:nvPr/>
        </p:nvSpPr>
        <p:spPr>
          <a:xfrm>
            <a:off x="6992983" y="1645920"/>
            <a:ext cx="4667794" cy="5093702"/>
          </a:xfrm>
          <a:prstGeom prst="rect">
            <a:avLst/>
          </a:prstGeom>
          <a:noFill/>
        </p:spPr>
        <p:txBody>
          <a:bodyPr wrap="square" rtlCol="0">
            <a:spAutoFit/>
          </a:bodyPr>
          <a:lstStyle/>
          <a:p>
            <a:pPr marL="285750" indent="-285750" algn="l">
              <a:buFont typeface="Arial" panose="020B0604020202020204" pitchFamily="34" charset="0"/>
              <a:buChar char="•"/>
            </a:pPr>
            <a:r>
              <a:rPr lang="en-US" sz="1300" b="1">
                <a:solidFill>
                  <a:schemeClr val="tx2"/>
                </a:solidFill>
              </a:rPr>
              <a:t>Strong alignment with utilization and disease burden signals</a:t>
            </a:r>
          </a:p>
          <a:p>
            <a:pPr marL="742950" lvl="1" indent="-285750">
              <a:buFont typeface="Arial" panose="020B0604020202020204" pitchFamily="34" charset="0"/>
              <a:buChar char="•"/>
            </a:pPr>
            <a:r>
              <a:rPr lang="en-US" sz="1300">
                <a:solidFill>
                  <a:schemeClr val="tx2"/>
                </a:solidFill>
              </a:rPr>
              <a:t>Diagnosis count</a:t>
            </a:r>
          </a:p>
          <a:p>
            <a:pPr marL="742950" lvl="1" indent="-285750">
              <a:buFont typeface="Arial" panose="020B0604020202020204" pitchFamily="34" charset="0"/>
              <a:buChar char="•"/>
            </a:pPr>
            <a:r>
              <a:rPr lang="en-US" sz="1300">
                <a:solidFill>
                  <a:schemeClr val="tx2"/>
                </a:solidFill>
              </a:rPr>
              <a:t>Total claim lines </a:t>
            </a:r>
          </a:p>
          <a:p>
            <a:pPr marL="742950" lvl="1" indent="-285750">
              <a:buFont typeface="Arial" panose="020B0604020202020204" pitchFamily="34" charset="0"/>
              <a:buChar char="•"/>
            </a:pPr>
            <a:r>
              <a:rPr lang="en-US" sz="1300">
                <a:solidFill>
                  <a:schemeClr val="tx2"/>
                </a:solidFill>
              </a:rPr>
              <a:t>Revenue code count</a:t>
            </a:r>
          </a:p>
          <a:p>
            <a:pPr marL="742950" lvl="1" indent="-285750">
              <a:buFont typeface="Arial" panose="020B0604020202020204" pitchFamily="34" charset="0"/>
              <a:buChar char="•"/>
            </a:pPr>
            <a:r>
              <a:rPr lang="en-US" sz="1300">
                <a:solidFill>
                  <a:schemeClr val="tx2"/>
                </a:solidFill>
              </a:rPr>
              <a:t>Chronic condition indicators – Hypertension, Diabetes, CVD</a:t>
            </a:r>
          </a:p>
          <a:p>
            <a:pPr marL="285750" indent="-285750">
              <a:buFont typeface="Arial" panose="020B0604020202020204" pitchFamily="34" charset="0"/>
              <a:buChar char="•"/>
            </a:pPr>
            <a:r>
              <a:rPr lang="en-US" sz="1300" b="1">
                <a:solidFill>
                  <a:schemeClr val="tx2"/>
                </a:solidFill>
              </a:rPr>
              <a:t>Embeddings encode patterns of healthcare interaction</a:t>
            </a:r>
          </a:p>
          <a:p>
            <a:pPr marL="742950" lvl="1" indent="-285750">
              <a:buFont typeface="Arial" panose="020B0604020202020204" pitchFamily="34" charset="0"/>
              <a:buChar char="•"/>
            </a:pPr>
            <a:r>
              <a:rPr lang="en-US" sz="1300">
                <a:solidFill>
                  <a:schemeClr val="tx2"/>
                </a:solidFill>
              </a:rPr>
              <a:t>Dimensions reflect overall care intensity and complexity</a:t>
            </a:r>
          </a:p>
          <a:p>
            <a:pPr marL="742950" lvl="1" indent="-285750">
              <a:buFont typeface="Arial" panose="020B0604020202020204" pitchFamily="34" charset="0"/>
              <a:buChar char="•"/>
            </a:pPr>
            <a:r>
              <a:rPr lang="en-US" sz="1300">
                <a:solidFill>
                  <a:schemeClr val="tx2"/>
                </a:solidFill>
              </a:rPr>
              <a:t>Chronic disease burden (CHF, Hypertension, Diabetes, CV condition) emerge implicitly, which are key risk drivers</a:t>
            </a:r>
          </a:p>
          <a:p>
            <a:pPr marL="285750" indent="-285750">
              <a:buFont typeface="Arial" panose="020B0604020202020204" pitchFamily="34" charset="0"/>
              <a:buChar char="•"/>
            </a:pPr>
            <a:r>
              <a:rPr lang="en-US" sz="1300" b="1">
                <a:solidFill>
                  <a:schemeClr val="tx2"/>
                </a:solidFill>
              </a:rPr>
              <a:t>Embedding_186 (illustrative)</a:t>
            </a:r>
          </a:p>
          <a:p>
            <a:pPr marL="742950" lvl="1" indent="-285750">
              <a:buFont typeface="Arial" panose="020B0604020202020204" pitchFamily="34" charset="0"/>
              <a:buChar char="•"/>
            </a:pPr>
            <a:r>
              <a:rPr lang="en-US" sz="1300">
                <a:solidFill>
                  <a:schemeClr val="tx2"/>
                </a:solidFill>
              </a:rPr>
              <a:t>Higher claim volume and diverse service usage</a:t>
            </a:r>
          </a:p>
          <a:p>
            <a:pPr marL="742950" lvl="1" indent="-285750">
              <a:buFont typeface="Arial" panose="020B0604020202020204" pitchFamily="34" charset="0"/>
              <a:buChar char="•"/>
            </a:pPr>
            <a:r>
              <a:rPr lang="en-US" sz="1300">
                <a:solidFill>
                  <a:schemeClr val="tx2"/>
                </a:solidFill>
              </a:rPr>
              <a:t>Frequent acute utilization (ER visits)</a:t>
            </a:r>
          </a:p>
          <a:p>
            <a:pPr marL="742950" lvl="1" indent="-285750">
              <a:buFont typeface="Arial" panose="020B0604020202020204" pitchFamily="34" charset="0"/>
              <a:buChar char="•"/>
            </a:pPr>
            <a:r>
              <a:rPr lang="en-US" sz="1300">
                <a:solidFill>
                  <a:schemeClr val="tx2"/>
                </a:solidFill>
              </a:rPr>
              <a:t>Representative of high-touch, more complex members</a:t>
            </a:r>
          </a:p>
          <a:p>
            <a:pPr marL="742950" lvl="1" indent="-285750">
              <a:buFont typeface="Arial" panose="020B0604020202020204" pitchFamily="34" charset="0"/>
              <a:buChar char="•"/>
            </a:pPr>
            <a:r>
              <a:rPr lang="en-US" sz="1300">
                <a:solidFill>
                  <a:schemeClr val="tx2"/>
                </a:solidFill>
              </a:rPr>
              <a:t>This single dimension captures multi-feature clinical and utilization patterns that would otherwise require many hand-engineered variables</a:t>
            </a:r>
          </a:p>
          <a:p>
            <a:pPr lvl="1"/>
            <a:endParaRPr lang="en-US" sz="1300">
              <a:solidFill>
                <a:schemeClr val="tx2"/>
              </a:solidFill>
            </a:endParaRPr>
          </a:p>
          <a:p>
            <a:pPr marL="285750" indent="-285750" algn="l">
              <a:buFont typeface="Arial" panose="020B0604020202020204" pitchFamily="34" charset="0"/>
              <a:buChar char="•"/>
            </a:pPr>
            <a:endParaRPr lang="en-US" sz="1300">
              <a:solidFill>
                <a:schemeClr val="tx2"/>
              </a:solidFill>
            </a:endParaRPr>
          </a:p>
        </p:txBody>
      </p:sp>
    </p:spTree>
    <p:extLst>
      <p:ext uri="{BB962C8B-B14F-4D97-AF65-F5344CB8AC3E}">
        <p14:creationId xmlns:p14="http://schemas.microsoft.com/office/powerpoint/2010/main" val="3303169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85937-3FC4-6A3F-C329-37330BD5B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E6E3FB-738A-E131-1588-22280860E915}"/>
              </a:ext>
            </a:extLst>
          </p:cNvPr>
          <p:cNvSpPr>
            <a:spLocks noGrp="1"/>
          </p:cNvSpPr>
          <p:nvPr>
            <p:ph type="title"/>
          </p:nvPr>
        </p:nvSpPr>
        <p:spPr/>
        <p:txBody>
          <a:bodyPr>
            <a:normAutofit fontScale="90000"/>
          </a:bodyPr>
          <a:lstStyle/>
          <a:p>
            <a:r>
              <a:rPr lang="en-US"/>
              <a:t>High-Quality, Interpretable Embeddings with Actionable Insights</a:t>
            </a:r>
          </a:p>
        </p:txBody>
      </p:sp>
      <p:sp>
        <p:nvSpPr>
          <p:cNvPr id="3" name="Content Placeholder 2">
            <a:extLst>
              <a:ext uri="{FF2B5EF4-FFF2-40B4-BE49-F238E27FC236}">
                <a16:creationId xmlns:a16="http://schemas.microsoft.com/office/drawing/2014/main" id="{0699ADA6-A5D6-3035-2FB8-F1251C5273D5}"/>
              </a:ext>
            </a:extLst>
          </p:cNvPr>
          <p:cNvSpPr>
            <a:spLocks noGrp="1"/>
          </p:cNvSpPr>
          <p:nvPr>
            <p:ph sz="half" idx="1"/>
          </p:nvPr>
        </p:nvSpPr>
        <p:spPr/>
        <p:txBody>
          <a:bodyPr/>
          <a:lstStyle/>
          <a:p>
            <a:pPr>
              <a:spcBef>
                <a:spcPts val="600"/>
              </a:spcBef>
            </a:pPr>
            <a:r>
              <a:rPr lang="en-US"/>
              <a:t>Validation : Stability &amp; Robustness</a:t>
            </a:r>
            <a:endParaRPr lang="en-US" sz="1200" b="0"/>
          </a:p>
          <a:p>
            <a:pPr marL="285750" indent="-285750" defTabSz="914400" fontAlgn="auto">
              <a:spcBef>
                <a:spcPts val="600"/>
              </a:spcBef>
              <a:buClrTx/>
              <a:buFont typeface="Arial" panose="020B0604020202020204" pitchFamily="34" charset="0"/>
              <a:buChar char="•"/>
              <a:defRPr/>
            </a:pPr>
            <a:endParaRPr lang="en-US" sz="1300" b="0"/>
          </a:p>
          <a:p>
            <a:pPr marL="285750" indent="-285750" defTabSz="914400" fontAlgn="auto">
              <a:spcBef>
                <a:spcPts val="600"/>
              </a:spcBef>
              <a:buClrTx/>
              <a:buFont typeface="Arial" panose="020B0604020202020204" pitchFamily="34" charset="0"/>
              <a:buChar char="•"/>
              <a:defRPr/>
            </a:pPr>
            <a:endParaRPr lang="en-US" sz="1300" b="0"/>
          </a:p>
          <a:p>
            <a:pPr defTabSz="914400" fontAlgn="auto">
              <a:spcBef>
                <a:spcPts val="600"/>
              </a:spcBef>
              <a:buClrTx/>
              <a:defRPr/>
            </a:pPr>
            <a:endParaRPr lang="en-US" sz="1300" b="0"/>
          </a:p>
        </p:txBody>
      </p:sp>
      <p:sp>
        <p:nvSpPr>
          <p:cNvPr id="4" name="Content Placeholder 3">
            <a:extLst>
              <a:ext uri="{FF2B5EF4-FFF2-40B4-BE49-F238E27FC236}">
                <a16:creationId xmlns:a16="http://schemas.microsoft.com/office/drawing/2014/main" id="{32573242-9B96-6CE0-56C7-A16C8394C105}"/>
              </a:ext>
            </a:extLst>
          </p:cNvPr>
          <p:cNvSpPr>
            <a:spLocks noGrp="1"/>
          </p:cNvSpPr>
          <p:nvPr>
            <p:ph sz="half" idx="10"/>
          </p:nvPr>
        </p:nvSpPr>
        <p:spPr/>
        <p:txBody>
          <a:bodyPr/>
          <a:lstStyle/>
          <a:p>
            <a:r>
              <a:rPr lang="en-US"/>
              <a:t>Sample Results</a:t>
            </a:r>
          </a:p>
        </p:txBody>
      </p:sp>
      <p:graphicFrame>
        <p:nvGraphicFramePr>
          <p:cNvPr id="5" name="Table 4">
            <a:extLst>
              <a:ext uri="{FF2B5EF4-FFF2-40B4-BE49-F238E27FC236}">
                <a16:creationId xmlns:a16="http://schemas.microsoft.com/office/drawing/2014/main" id="{25CEA6AD-1E2E-FA9C-4C3C-C116249D1D58}"/>
              </a:ext>
            </a:extLst>
          </p:cNvPr>
          <p:cNvGraphicFramePr>
            <a:graphicFrameLocks noGrp="1"/>
          </p:cNvGraphicFramePr>
          <p:nvPr/>
        </p:nvGraphicFramePr>
        <p:xfrm>
          <a:off x="569347" y="2514452"/>
          <a:ext cx="4480119" cy="3220720"/>
        </p:xfrm>
        <a:graphic>
          <a:graphicData uri="http://schemas.openxmlformats.org/drawingml/2006/table">
            <a:tbl>
              <a:tblPr firstRow="1" bandRow="1">
                <a:tableStyleId>{2D5ABB26-0587-4C30-8999-92F81FD0307C}</a:tableStyleId>
              </a:tblPr>
              <a:tblGrid>
                <a:gridCol w="1493373">
                  <a:extLst>
                    <a:ext uri="{9D8B030D-6E8A-4147-A177-3AD203B41FA5}">
                      <a16:colId xmlns:a16="http://schemas.microsoft.com/office/drawing/2014/main" val="622278434"/>
                    </a:ext>
                  </a:extLst>
                </a:gridCol>
                <a:gridCol w="1493373">
                  <a:extLst>
                    <a:ext uri="{9D8B030D-6E8A-4147-A177-3AD203B41FA5}">
                      <a16:colId xmlns:a16="http://schemas.microsoft.com/office/drawing/2014/main" val="675660912"/>
                    </a:ext>
                  </a:extLst>
                </a:gridCol>
                <a:gridCol w="1493373">
                  <a:extLst>
                    <a:ext uri="{9D8B030D-6E8A-4147-A177-3AD203B41FA5}">
                      <a16:colId xmlns:a16="http://schemas.microsoft.com/office/drawing/2014/main" val="1951866923"/>
                    </a:ext>
                  </a:extLst>
                </a:gridCol>
              </a:tblGrid>
              <a:tr h="370840">
                <a:tc>
                  <a:txBody>
                    <a:bodyPr/>
                    <a:lstStyle/>
                    <a:p>
                      <a:r>
                        <a:rPr lang="en-US" sz="1300" b="1"/>
                        <a:t>Quality Metric</a:t>
                      </a:r>
                    </a:p>
                  </a:txBody>
                  <a:tcPr/>
                </a:tc>
                <a:tc>
                  <a:txBody>
                    <a:bodyPr/>
                    <a:lstStyle/>
                    <a:p>
                      <a:r>
                        <a:rPr lang="en-US" sz="1300" b="1"/>
                        <a:t>Value</a:t>
                      </a:r>
                    </a:p>
                  </a:txBody>
                  <a:tcPr/>
                </a:tc>
                <a:tc>
                  <a:txBody>
                    <a:bodyPr/>
                    <a:lstStyle/>
                    <a:p>
                      <a:r>
                        <a:rPr lang="en-US" sz="1300" b="1"/>
                        <a:t>Interpretation</a:t>
                      </a:r>
                    </a:p>
                  </a:txBody>
                  <a:tcPr/>
                </a:tc>
                <a:extLst>
                  <a:ext uri="{0D108BD9-81ED-4DB2-BD59-A6C34878D82A}">
                    <a16:rowId xmlns:a16="http://schemas.microsoft.com/office/drawing/2014/main" val="3665368856"/>
                  </a:ext>
                </a:extLst>
              </a:tr>
              <a:tr h="370840">
                <a:tc>
                  <a:txBody>
                    <a:bodyPr/>
                    <a:lstStyle/>
                    <a:p>
                      <a:r>
                        <a:rPr lang="en-US" sz="1300"/>
                        <a:t>Directional Consistency (avg sign-rate)</a:t>
                      </a:r>
                    </a:p>
                  </a:txBody>
                  <a:tcPr/>
                </a:tc>
                <a:tc>
                  <a:txBody>
                    <a:bodyPr/>
                    <a:lstStyle/>
                    <a:p>
                      <a:r>
                        <a:rPr lang="en-US" sz="1300"/>
                        <a:t>99.9%</a:t>
                      </a:r>
                    </a:p>
                  </a:txBody>
                  <a:tcPr/>
                </a:tc>
                <a:tc>
                  <a:txBody>
                    <a:bodyPr/>
                    <a:lstStyle/>
                    <a:p>
                      <a:r>
                        <a:rPr lang="en-US" sz="1300"/>
                        <a:t>Directions are consistent across bootstrap resamples</a:t>
                      </a:r>
                    </a:p>
                  </a:txBody>
                  <a:tcPr/>
                </a:tc>
                <a:extLst>
                  <a:ext uri="{0D108BD9-81ED-4DB2-BD59-A6C34878D82A}">
                    <a16:rowId xmlns:a16="http://schemas.microsoft.com/office/drawing/2014/main" val="556509996"/>
                  </a:ext>
                </a:extLst>
              </a:tr>
              <a:tr h="370840">
                <a:tc>
                  <a:txBody>
                    <a:bodyPr/>
                    <a:lstStyle/>
                    <a:p>
                      <a:r>
                        <a:rPr lang="en-US" sz="1300"/>
                        <a:t>Mean Stability (std dev)</a:t>
                      </a:r>
                    </a:p>
                  </a:txBody>
                  <a:tcPr/>
                </a:tc>
                <a:tc>
                  <a:txBody>
                    <a:bodyPr/>
                    <a:lstStyle/>
                    <a:p>
                      <a:r>
                        <a:rPr lang="en-US" sz="1300"/>
                        <a:t>0.06</a:t>
                      </a:r>
                    </a:p>
                  </a:txBody>
                  <a:tcPr/>
                </a:tc>
                <a:tc>
                  <a:txBody>
                    <a:bodyPr/>
                    <a:lstStyle/>
                    <a:p>
                      <a:r>
                        <a:rPr lang="en-US" sz="1300"/>
                        <a:t>Coefficient estimates show low dispersion across samples</a:t>
                      </a:r>
                    </a:p>
                  </a:txBody>
                  <a:tcPr/>
                </a:tc>
                <a:extLst>
                  <a:ext uri="{0D108BD9-81ED-4DB2-BD59-A6C34878D82A}">
                    <a16:rowId xmlns:a16="http://schemas.microsoft.com/office/drawing/2014/main" val="1448341199"/>
                  </a:ext>
                </a:extLst>
              </a:tr>
              <a:tr h="370840">
                <a:tc>
                  <a:txBody>
                    <a:bodyPr/>
                    <a:lstStyle/>
                    <a:p>
                      <a:r>
                        <a:rPr lang="en-US" sz="1300"/>
                        <a:t>Dimensions with clinical meaning</a:t>
                      </a:r>
                    </a:p>
                  </a:txBody>
                  <a:tcPr/>
                </a:tc>
                <a:tc>
                  <a:txBody>
                    <a:bodyPr/>
                    <a:lstStyle/>
                    <a:p>
                      <a:r>
                        <a:rPr lang="en-US" sz="1300"/>
                        <a:t>184/256</a:t>
                      </a:r>
                    </a:p>
                  </a:txBody>
                  <a:tcPr/>
                </a:tc>
                <a:tc>
                  <a:txBody>
                    <a:bodyPr/>
                    <a:lstStyle/>
                    <a:p>
                      <a:r>
                        <a:rPr lang="en-US" sz="1300"/>
                        <a:t>72% of dimensions have &gt;=1 stable concept association</a:t>
                      </a:r>
                    </a:p>
                  </a:txBody>
                  <a:tcPr/>
                </a:tc>
                <a:extLst>
                  <a:ext uri="{0D108BD9-81ED-4DB2-BD59-A6C34878D82A}">
                    <a16:rowId xmlns:a16="http://schemas.microsoft.com/office/drawing/2014/main" val="2575934187"/>
                  </a:ext>
                </a:extLst>
              </a:tr>
            </a:tbl>
          </a:graphicData>
        </a:graphic>
      </p:graphicFrame>
      <p:graphicFrame>
        <p:nvGraphicFramePr>
          <p:cNvPr id="6" name="Table 5">
            <a:extLst>
              <a:ext uri="{FF2B5EF4-FFF2-40B4-BE49-F238E27FC236}">
                <a16:creationId xmlns:a16="http://schemas.microsoft.com/office/drawing/2014/main" id="{F8A8CDED-635F-943E-CA2C-3A18E5163043}"/>
              </a:ext>
            </a:extLst>
          </p:cNvPr>
          <p:cNvGraphicFramePr>
            <a:graphicFrameLocks noGrp="1"/>
          </p:cNvGraphicFramePr>
          <p:nvPr/>
        </p:nvGraphicFramePr>
        <p:xfrm>
          <a:off x="6440555" y="2524928"/>
          <a:ext cx="5182098" cy="3230880"/>
        </p:xfrm>
        <a:graphic>
          <a:graphicData uri="http://schemas.openxmlformats.org/drawingml/2006/table">
            <a:tbl>
              <a:tblPr firstRow="1" bandRow="1">
                <a:tableStyleId>{2D5ABB26-0587-4C30-8999-92F81FD0307C}</a:tableStyleId>
              </a:tblPr>
              <a:tblGrid>
                <a:gridCol w="1197964">
                  <a:extLst>
                    <a:ext uri="{9D8B030D-6E8A-4147-A177-3AD203B41FA5}">
                      <a16:colId xmlns:a16="http://schemas.microsoft.com/office/drawing/2014/main" val="2546829303"/>
                    </a:ext>
                  </a:extLst>
                </a:gridCol>
                <a:gridCol w="1551906">
                  <a:extLst>
                    <a:ext uri="{9D8B030D-6E8A-4147-A177-3AD203B41FA5}">
                      <a16:colId xmlns:a16="http://schemas.microsoft.com/office/drawing/2014/main" val="2031454353"/>
                    </a:ext>
                  </a:extLst>
                </a:gridCol>
                <a:gridCol w="1252417">
                  <a:extLst>
                    <a:ext uri="{9D8B030D-6E8A-4147-A177-3AD203B41FA5}">
                      <a16:colId xmlns:a16="http://schemas.microsoft.com/office/drawing/2014/main" val="857670976"/>
                    </a:ext>
                  </a:extLst>
                </a:gridCol>
                <a:gridCol w="1179811">
                  <a:extLst>
                    <a:ext uri="{9D8B030D-6E8A-4147-A177-3AD203B41FA5}">
                      <a16:colId xmlns:a16="http://schemas.microsoft.com/office/drawing/2014/main" val="2796584402"/>
                    </a:ext>
                  </a:extLst>
                </a:gridCol>
              </a:tblGrid>
              <a:tr h="370840">
                <a:tc>
                  <a:txBody>
                    <a:bodyPr/>
                    <a:lstStyle/>
                    <a:p>
                      <a:r>
                        <a:rPr lang="en-US" sz="1300" b="1"/>
                        <a:t>Dimension</a:t>
                      </a:r>
                    </a:p>
                  </a:txBody>
                  <a:tcPr/>
                </a:tc>
                <a:tc>
                  <a:txBody>
                    <a:bodyPr/>
                    <a:lstStyle/>
                    <a:p>
                      <a:r>
                        <a:rPr lang="en-US" sz="1300" b="1"/>
                        <a:t>Clinical Pattern</a:t>
                      </a:r>
                    </a:p>
                  </a:txBody>
                  <a:tcPr/>
                </a:tc>
                <a:tc>
                  <a:txBody>
                    <a:bodyPr/>
                    <a:lstStyle/>
                    <a:p>
                      <a:r>
                        <a:rPr lang="en-US" sz="1300" b="1"/>
                        <a:t>Example Concepts</a:t>
                      </a:r>
                    </a:p>
                  </a:txBody>
                  <a:tcPr/>
                </a:tc>
                <a:tc>
                  <a:txBody>
                    <a:bodyPr/>
                    <a:lstStyle/>
                    <a:p>
                      <a:r>
                        <a:rPr lang="en-US" sz="1300" b="1"/>
                        <a:t>Stability</a:t>
                      </a:r>
                    </a:p>
                  </a:txBody>
                  <a:tcPr/>
                </a:tc>
                <a:extLst>
                  <a:ext uri="{0D108BD9-81ED-4DB2-BD59-A6C34878D82A}">
                    <a16:rowId xmlns:a16="http://schemas.microsoft.com/office/drawing/2014/main" val="2582177092"/>
                  </a:ext>
                </a:extLst>
              </a:tr>
              <a:tr h="370840">
                <a:tc>
                  <a:txBody>
                    <a:bodyPr/>
                    <a:lstStyle/>
                    <a:p>
                      <a:r>
                        <a:rPr lang="en-US" sz="1300"/>
                        <a:t>234</a:t>
                      </a:r>
                    </a:p>
                  </a:txBody>
                  <a:tcPr/>
                </a:tc>
                <a:tc>
                  <a:txBody>
                    <a:bodyPr/>
                    <a:lstStyle/>
                    <a:p>
                      <a:r>
                        <a:rPr lang="en-US" sz="1300"/>
                        <a:t>Metabolic – Renal</a:t>
                      </a:r>
                    </a:p>
                  </a:txBody>
                  <a:tcPr/>
                </a:tc>
                <a:tc>
                  <a:txBody>
                    <a:bodyPr/>
                    <a:lstStyle/>
                    <a:p>
                      <a:r>
                        <a:rPr lang="en-US" sz="1300"/>
                        <a:t>Diabetes (+0.32), Dialysis (-0.31)</a:t>
                      </a:r>
                    </a:p>
                  </a:txBody>
                  <a:tcPr/>
                </a:tc>
                <a:tc>
                  <a:txBody>
                    <a:bodyPr/>
                    <a:lstStyle/>
                    <a:p>
                      <a:r>
                        <a:rPr lang="en-US" sz="1300"/>
                        <a:t>100% (2 concepts)</a:t>
                      </a:r>
                    </a:p>
                  </a:txBody>
                  <a:tcPr/>
                </a:tc>
                <a:extLst>
                  <a:ext uri="{0D108BD9-81ED-4DB2-BD59-A6C34878D82A}">
                    <a16:rowId xmlns:a16="http://schemas.microsoft.com/office/drawing/2014/main" val="2091383905"/>
                  </a:ext>
                </a:extLst>
              </a:tr>
              <a:tr h="370840">
                <a:tc>
                  <a:txBody>
                    <a:bodyPr/>
                    <a:lstStyle/>
                    <a:p>
                      <a:r>
                        <a:rPr lang="en-US" sz="1300"/>
                        <a:t>40</a:t>
                      </a:r>
                    </a:p>
                  </a:txBody>
                  <a:tcPr/>
                </a:tc>
                <a:tc>
                  <a:txBody>
                    <a:bodyPr/>
                    <a:lstStyle/>
                    <a:p>
                      <a:r>
                        <a:rPr lang="en-US" sz="1300"/>
                        <a:t>SDOH</a:t>
                      </a:r>
                    </a:p>
                  </a:txBody>
                  <a:tcPr/>
                </a:tc>
                <a:tc>
                  <a:txBody>
                    <a:bodyPr/>
                    <a:lstStyle/>
                    <a:p>
                      <a:r>
                        <a:rPr lang="en-US" sz="1300"/>
                        <a:t>Financial Strain (+0.13)</a:t>
                      </a:r>
                    </a:p>
                  </a:txBody>
                  <a:tcPr/>
                </a:tc>
                <a:tc>
                  <a:txBody>
                    <a:bodyPr/>
                    <a:lstStyle/>
                    <a:p>
                      <a:r>
                        <a:rPr lang="en-US" sz="1300"/>
                        <a:t>99% (1 concept)</a:t>
                      </a:r>
                    </a:p>
                  </a:txBody>
                  <a:tcPr/>
                </a:tc>
                <a:extLst>
                  <a:ext uri="{0D108BD9-81ED-4DB2-BD59-A6C34878D82A}">
                    <a16:rowId xmlns:a16="http://schemas.microsoft.com/office/drawing/2014/main" val="3210775192"/>
                  </a:ext>
                </a:extLst>
              </a:tr>
              <a:tr h="370840">
                <a:tc>
                  <a:txBody>
                    <a:bodyPr/>
                    <a:lstStyle/>
                    <a:p>
                      <a:r>
                        <a:rPr lang="en-US" sz="1300"/>
                        <a:t>211</a:t>
                      </a:r>
                    </a:p>
                  </a:txBody>
                  <a:tcPr/>
                </a:tc>
                <a:tc>
                  <a:txBody>
                    <a:bodyPr/>
                    <a:lstStyle/>
                    <a:p>
                      <a:r>
                        <a:rPr lang="en-US" sz="1300"/>
                        <a:t>Cardiovascular</a:t>
                      </a:r>
                    </a:p>
                  </a:txBody>
                  <a:tcPr/>
                </a:tc>
                <a:tc>
                  <a:txBody>
                    <a:bodyPr/>
                    <a:lstStyle/>
                    <a:p>
                      <a:r>
                        <a:rPr lang="en-US" sz="1300"/>
                        <a:t>Heart Failure (+0.56)</a:t>
                      </a:r>
                    </a:p>
                  </a:txBody>
                  <a:tcPr/>
                </a:tc>
                <a:tc>
                  <a:txBody>
                    <a:bodyPr/>
                    <a:lstStyle/>
                    <a:p>
                      <a:r>
                        <a:rPr lang="en-US" sz="1300"/>
                        <a:t>100% (1 concept)</a:t>
                      </a:r>
                    </a:p>
                  </a:txBody>
                  <a:tcPr/>
                </a:tc>
                <a:extLst>
                  <a:ext uri="{0D108BD9-81ED-4DB2-BD59-A6C34878D82A}">
                    <a16:rowId xmlns:a16="http://schemas.microsoft.com/office/drawing/2014/main" val="3655736320"/>
                  </a:ext>
                </a:extLst>
              </a:tr>
              <a:tr h="370840">
                <a:tc>
                  <a:txBody>
                    <a:bodyPr/>
                    <a:lstStyle/>
                    <a:p>
                      <a:r>
                        <a:rPr lang="en-US" sz="1300"/>
                        <a:t>210</a:t>
                      </a:r>
                    </a:p>
                  </a:txBody>
                  <a:tcPr/>
                </a:tc>
                <a:tc>
                  <a:txBody>
                    <a:bodyPr/>
                    <a:lstStyle/>
                    <a:p>
                      <a:r>
                        <a:rPr lang="en-US" sz="1300"/>
                        <a:t>Acute Utilization</a:t>
                      </a:r>
                    </a:p>
                  </a:txBody>
                  <a:tcPr/>
                </a:tc>
                <a:tc>
                  <a:txBody>
                    <a:bodyPr/>
                    <a:lstStyle/>
                    <a:p>
                      <a:r>
                        <a:rPr lang="en-US" sz="1300"/>
                        <a:t>ER (+0.91) , Preventable ER (+0.84), Preventative care (-0.32)</a:t>
                      </a:r>
                    </a:p>
                  </a:txBody>
                  <a:tcPr/>
                </a:tc>
                <a:tc>
                  <a:txBody>
                    <a:bodyPr/>
                    <a:lstStyle/>
                    <a:p>
                      <a:r>
                        <a:rPr lang="en-US" sz="1300"/>
                        <a:t>100% (7 concepts)</a:t>
                      </a:r>
                    </a:p>
                  </a:txBody>
                  <a:tcPr/>
                </a:tc>
                <a:extLst>
                  <a:ext uri="{0D108BD9-81ED-4DB2-BD59-A6C34878D82A}">
                    <a16:rowId xmlns:a16="http://schemas.microsoft.com/office/drawing/2014/main" val="369324061"/>
                  </a:ext>
                </a:extLst>
              </a:tr>
            </a:tbl>
          </a:graphicData>
        </a:graphic>
      </p:graphicFrame>
    </p:spTree>
    <p:extLst>
      <p:ext uri="{BB962C8B-B14F-4D97-AF65-F5344CB8AC3E}">
        <p14:creationId xmlns:p14="http://schemas.microsoft.com/office/powerpoint/2010/main" val="4256489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3A01E-F2C2-3B8C-09BA-3949ED41E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CF242-A5C8-388C-632E-EB71A6F793A2}"/>
              </a:ext>
            </a:extLst>
          </p:cNvPr>
          <p:cNvSpPr>
            <a:spLocks noGrp="1"/>
          </p:cNvSpPr>
          <p:nvPr>
            <p:ph type="title"/>
          </p:nvPr>
        </p:nvSpPr>
        <p:spPr/>
        <p:txBody>
          <a:bodyPr/>
          <a:lstStyle/>
          <a:p>
            <a:r>
              <a:rPr lang="en-US"/>
              <a:t>Member-Level Explainability Framework</a:t>
            </a:r>
          </a:p>
        </p:txBody>
      </p:sp>
      <p:sp>
        <p:nvSpPr>
          <p:cNvPr id="3" name="Content Placeholder 2">
            <a:extLst>
              <a:ext uri="{FF2B5EF4-FFF2-40B4-BE49-F238E27FC236}">
                <a16:creationId xmlns:a16="http://schemas.microsoft.com/office/drawing/2014/main" id="{BC6FFA65-031A-A973-F856-242763FAA4EC}"/>
              </a:ext>
            </a:extLst>
          </p:cNvPr>
          <p:cNvSpPr>
            <a:spLocks noGrp="1"/>
          </p:cNvSpPr>
          <p:nvPr>
            <p:ph sz="half" idx="1"/>
          </p:nvPr>
        </p:nvSpPr>
        <p:spPr>
          <a:xfrm>
            <a:off x="557929" y="1767531"/>
            <a:ext cx="5238478" cy="4560117"/>
          </a:xfrm>
        </p:spPr>
        <p:txBody>
          <a:bodyPr/>
          <a:lstStyle/>
          <a:p>
            <a:r>
              <a:rPr lang="en-US"/>
              <a:t>Method</a:t>
            </a:r>
          </a:p>
          <a:p>
            <a:pPr lvl="2"/>
            <a:r>
              <a:rPr lang="en-US" b="1"/>
              <a:t>Step 1 – Load member embedding</a:t>
            </a:r>
          </a:p>
          <a:p>
            <a:pPr lvl="3"/>
            <a:r>
              <a:rPr lang="en-US"/>
              <a:t>256-dimensional vector summarizing clinical history</a:t>
            </a:r>
          </a:p>
          <a:p>
            <a:pPr lvl="2"/>
            <a:r>
              <a:rPr lang="en-US" b="1"/>
              <a:t>Step 2 – Concept Scoring</a:t>
            </a:r>
          </a:p>
          <a:p>
            <a:pPr lvl="3"/>
            <a:r>
              <a:rPr lang="en-US"/>
              <a:t>For each clinical concept:</a:t>
            </a:r>
          </a:p>
          <a:p>
            <a:pPr lvl="4"/>
            <a:r>
              <a:rPr lang="en-US"/>
              <a:t>Apply trained concept detectors</a:t>
            </a:r>
          </a:p>
          <a:p>
            <a:pPr lvl="4"/>
            <a:r>
              <a:rPr lang="en-US"/>
              <a:t>Detect whether the embedding contains signals for that concept</a:t>
            </a:r>
          </a:p>
          <a:p>
            <a:pPr lvl="4"/>
            <a:r>
              <a:rPr lang="en-US"/>
              <a:t>Produce a concept score</a:t>
            </a:r>
          </a:p>
          <a:p>
            <a:pPr lvl="2"/>
            <a:r>
              <a:rPr lang="en-US" b="1"/>
              <a:t>Step 3 – Dimension Attribution</a:t>
            </a:r>
          </a:p>
          <a:p>
            <a:pPr lvl="3"/>
            <a:r>
              <a:rPr lang="en-US"/>
              <a:t>Identify which embedding dimensions contributed most to the score</a:t>
            </a:r>
          </a:p>
          <a:p>
            <a:pPr lvl="3"/>
            <a:r>
              <a:rPr lang="en-US"/>
              <a:t>Contribution = Member Value x Concept Weight</a:t>
            </a:r>
          </a:p>
          <a:p>
            <a:pPr lvl="2"/>
            <a:r>
              <a:rPr lang="en-US" b="1"/>
              <a:t>Step 4 – Clinical Interpretation</a:t>
            </a:r>
          </a:p>
          <a:p>
            <a:pPr lvl="3"/>
            <a:r>
              <a:rPr lang="en-US"/>
              <a:t>Link important dimensions to their meanings using the global dimension dictionary</a:t>
            </a:r>
          </a:p>
        </p:txBody>
      </p:sp>
      <p:sp>
        <p:nvSpPr>
          <p:cNvPr id="4" name="Content Placeholder 3">
            <a:extLst>
              <a:ext uri="{FF2B5EF4-FFF2-40B4-BE49-F238E27FC236}">
                <a16:creationId xmlns:a16="http://schemas.microsoft.com/office/drawing/2014/main" id="{9E51D931-18DB-265C-5170-3D0F8681A574}"/>
              </a:ext>
            </a:extLst>
          </p:cNvPr>
          <p:cNvSpPr>
            <a:spLocks noGrp="1"/>
          </p:cNvSpPr>
          <p:nvPr>
            <p:ph sz="half" idx="10"/>
          </p:nvPr>
        </p:nvSpPr>
        <p:spPr>
          <a:xfrm>
            <a:off x="6384175" y="1767531"/>
            <a:ext cx="5238478" cy="4442437"/>
          </a:xfrm>
        </p:spPr>
        <p:txBody>
          <a:bodyPr/>
          <a:lstStyle/>
          <a:p>
            <a:r>
              <a:rPr lang="en-US"/>
              <a:t>Example: High ER Utilizer</a:t>
            </a:r>
          </a:p>
          <a:p>
            <a:pPr lvl="2"/>
            <a:r>
              <a:rPr lang="en-US" b="1"/>
              <a:t>Step 1 – Concept Scores</a:t>
            </a:r>
          </a:p>
          <a:p>
            <a:pPr lvl="3"/>
            <a:r>
              <a:rPr lang="en-US"/>
              <a:t>Any ER Visit : 0.92 </a:t>
            </a:r>
          </a:p>
          <a:p>
            <a:pPr lvl="3"/>
            <a:r>
              <a:rPr lang="en-US"/>
              <a:t>Preventable ER Visit: 0.81</a:t>
            </a:r>
          </a:p>
          <a:p>
            <a:pPr lvl="3"/>
            <a:r>
              <a:rPr lang="en-US"/>
              <a:t>Pneumonia: 0.73</a:t>
            </a:r>
          </a:p>
          <a:p>
            <a:pPr lvl="3"/>
            <a:r>
              <a:rPr lang="en-US"/>
              <a:t>Poor Care Coordination: 0.58</a:t>
            </a:r>
          </a:p>
          <a:p>
            <a:pPr lvl="2"/>
            <a:r>
              <a:rPr lang="en-US" b="1"/>
              <a:t>Step 2 – Top Contributing Dimensions</a:t>
            </a:r>
          </a:p>
          <a:p>
            <a:pPr lvl="3"/>
            <a:r>
              <a:rPr lang="en-US"/>
              <a:t>Dimension 210: +0.48, Dimension 52: +0.35, Dimension 29: +0.31</a:t>
            </a:r>
          </a:p>
          <a:p>
            <a:pPr lvl="2"/>
            <a:r>
              <a:rPr lang="en-US" b="1"/>
              <a:t>Step 3 – Clinical Interpretation (LLM-Enhanced)</a:t>
            </a:r>
          </a:p>
          <a:p>
            <a:pPr lvl="3"/>
            <a:r>
              <a:rPr lang="en-US" b="1"/>
              <a:t>Example output : </a:t>
            </a:r>
          </a:p>
          <a:p>
            <a:pPr lvl="4"/>
            <a:r>
              <a:rPr lang="en-US" i="1"/>
              <a:t>This member demonstrates a high-risk emergency utilization profile, with 92% ED visit likelihood and 81% preventable ED likelihood. The primary driver is Dimension 210, which captures emergency-driven care engagement and inverse associations with preventive behaviors, suggesting reactive rather than proactive healthcare interactions</a:t>
            </a:r>
            <a:endParaRPr lang="en-US"/>
          </a:p>
        </p:txBody>
      </p:sp>
    </p:spTree>
    <p:extLst>
      <p:ext uri="{BB962C8B-B14F-4D97-AF65-F5344CB8AC3E}">
        <p14:creationId xmlns:p14="http://schemas.microsoft.com/office/powerpoint/2010/main" val="3732123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JJ33X7ihWg7eo5HGwAv4S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2297</Words>
  <Application>Microsoft Macintosh PowerPoint</Application>
  <PresentationFormat>Widescreen</PresentationFormat>
  <Paragraphs>284</Paragraphs>
  <Slides>14</Slides>
  <Notes>7</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2" baseType="lpstr">
      <vt:lpstr>Aptos</vt:lpstr>
      <vt:lpstr>Aptos Display</vt:lpstr>
      <vt:lpstr>Arial</vt:lpstr>
      <vt:lpstr>Calibri</vt:lpstr>
      <vt:lpstr>CVS Health Sans</vt:lpstr>
      <vt:lpstr>Times New Roman</vt:lpstr>
      <vt:lpstr>Office Theme</vt:lpstr>
      <vt:lpstr>think-cell Slide</vt:lpstr>
      <vt:lpstr>Transformer Embeddings </vt:lpstr>
      <vt:lpstr>PowerPoint Presentation</vt:lpstr>
      <vt:lpstr>Model Architecture and Refactoring</vt:lpstr>
      <vt:lpstr>Ablation Results</vt:lpstr>
      <vt:lpstr>PowerPoint Presentation</vt:lpstr>
      <vt:lpstr>Review of previous work in TE  explainability</vt:lpstr>
      <vt:lpstr>Semantic meanings of embeddings with correlation</vt:lpstr>
      <vt:lpstr>PowerPoint Presentation</vt:lpstr>
      <vt:lpstr>Model behavior with probing and CAV – what clinical concepts are learned and where</vt:lpstr>
      <vt:lpstr>TE explainability framework</vt:lpstr>
      <vt:lpstr>Method 1 – Concept Activation Vectors (CAV)</vt:lpstr>
      <vt:lpstr>Semantic meanings of embeddings with correlation</vt:lpstr>
      <vt:lpstr>High-Quality, Interpretable Embeddings with Actionable Insights</vt:lpstr>
      <vt:lpstr>Member-Level Explainability Framework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Xing, Daniel</dc:creator>
  <cp:lastModifiedBy>Xing, Daniel</cp:lastModifiedBy>
  <cp:revision>1</cp:revision>
  <dcterms:created xsi:type="dcterms:W3CDTF">2026-04-16T14:38:14Z</dcterms:created>
  <dcterms:modified xsi:type="dcterms:W3CDTF">2026-05-06T15:19:44Z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ecdf243-b9b0-4f63-8694-76742e4201b7_Enabled">
    <vt:lpwstr>true</vt:lpwstr>
  </property>
  <property fmtid="{D5CDD505-2E9C-101B-9397-08002B2CF9AE}" pid="3" name="MSIP_Label_1ecdf243-b9b0-4f63-8694-76742e4201b7_SetDate">
    <vt:lpwstr>2026-04-16T14:46:27Z</vt:lpwstr>
  </property>
  <property fmtid="{D5CDD505-2E9C-101B-9397-08002B2CF9AE}" pid="4" name="MSIP_Label_1ecdf243-b9b0-4f63-8694-76742e4201b7_Method">
    <vt:lpwstr>Standard</vt:lpwstr>
  </property>
  <property fmtid="{D5CDD505-2E9C-101B-9397-08002B2CF9AE}" pid="5" name="MSIP_Label_1ecdf243-b9b0-4f63-8694-76742e4201b7_Name">
    <vt:lpwstr>Proprietary general</vt:lpwstr>
  </property>
  <property fmtid="{D5CDD505-2E9C-101B-9397-08002B2CF9AE}" pid="6" name="MSIP_Label_1ecdf243-b9b0-4f63-8694-76742e4201b7_SiteId">
    <vt:lpwstr>fabb61b8-3afe-4e75-b934-a47f782b8cd7</vt:lpwstr>
  </property>
  <property fmtid="{D5CDD505-2E9C-101B-9397-08002B2CF9AE}" pid="7" name="MSIP_Label_1ecdf243-b9b0-4f63-8694-76742e4201b7_ActionId">
    <vt:lpwstr>54bc1958-3ca5-4b2d-84c8-680f2e29fcbe</vt:lpwstr>
  </property>
  <property fmtid="{D5CDD505-2E9C-101B-9397-08002B2CF9AE}" pid="8" name="MSIP_Label_1ecdf243-b9b0-4f63-8694-76742e4201b7_ContentBits">
    <vt:lpwstr>0</vt:lpwstr>
  </property>
  <property fmtid="{D5CDD505-2E9C-101B-9397-08002B2CF9AE}" pid="9" name="MSIP_Label_1ecdf243-b9b0-4f63-8694-76742e4201b7_Tag">
    <vt:lpwstr>50, 3, 0, 1</vt:lpwstr>
  </property>
</Properties>
</file>